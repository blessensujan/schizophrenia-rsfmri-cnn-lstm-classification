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3" r:id="rId1"/>
  </p:sldMasterIdLst>
  <p:sldIdLst>
    <p:sldId id="256" r:id="rId2"/>
    <p:sldId id="257" r:id="rId3"/>
    <p:sldId id="262" r:id="rId4"/>
    <p:sldId id="260" r:id="rId5"/>
    <p:sldId id="263" r:id="rId6"/>
    <p:sldId id="264" r:id="rId7"/>
    <p:sldId id="265" r:id="rId8"/>
    <p:sldId id="274" r:id="rId9"/>
    <p:sldId id="267" r:id="rId10"/>
    <p:sldId id="276" r:id="rId11"/>
    <p:sldId id="275" r:id="rId12"/>
    <p:sldId id="268" r:id="rId13"/>
    <p:sldId id="269" r:id="rId14"/>
    <p:sldId id="270" r:id="rId15"/>
    <p:sldId id="271" r:id="rId16"/>
    <p:sldId id="272" r:id="rId17"/>
    <p:sldId id="27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7"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25FC90-8C65-4F58-B58B-6959AB292ECB}" type="doc">
      <dgm:prSet loTypeId="urn:microsoft.com/office/officeart/2008/layout/LinedList" loCatId="list" qsTypeId="urn:microsoft.com/office/officeart/2005/8/quickstyle/simple1" qsCatId="simple" csTypeId="urn:microsoft.com/office/officeart/2005/8/colors/accent2_2" csCatId="accent2"/>
      <dgm:spPr/>
      <dgm:t>
        <a:bodyPr/>
        <a:lstStyle/>
        <a:p>
          <a:endParaRPr lang="en-US"/>
        </a:p>
      </dgm:t>
    </dgm:pt>
    <dgm:pt modelId="{DC948BE0-475C-48C6-A998-8D196AE4D987}">
      <dgm:prSet/>
      <dgm:spPr/>
      <dgm:t>
        <a:bodyPr/>
        <a:lstStyle/>
        <a:p>
          <a:r>
            <a:rPr lang="en-GB"/>
            <a:t>I would like to express my deepest gratitude to my supervisor</a:t>
          </a:r>
          <a:r>
            <a:rPr lang="en-GB" b="1"/>
            <a:t>, Dr. Indranath Chatterjee</a:t>
          </a:r>
          <a:r>
            <a:rPr lang="en-GB"/>
            <a:t>, for his invaluable guidance, support, and encouragement throughout this project. It was under his insightful supervision that I was introduced to the idea for this research, and his expertise and advice were crucial at every step. His suggestions and feedback have been instrumental in shaping this project and overcoming the challenges I encountered. I am truly grateful for his time, patience, and mentorship, which made this journey a rewarding experience.</a:t>
          </a:r>
          <a:endParaRPr lang="en-US"/>
        </a:p>
      </dgm:t>
    </dgm:pt>
    <dgm:pt modelId="{ADF00DD1-6045-47EC-B506-99B677883931}" type="parTrans" cxnId="{EE6E0A1E-9852-4E61-8BAC-6FD786525F75}">
      <dgm:prSet/>
      <dgm:spPr/>
      <dgm:t>
        <a:bodyPr/>
        <a:lstStyle/>
        <a:p>
          <a:endParaRPr lang="en-US"/>
        </a:p>
      </dgm:t>
    </dgm:pt>
    <dgm:pt modelId="{801F7441-EA2D-47F2-8F2D-A40557C67C64}" type="sibTrans" cxnId="{EE6E0A1E-9852-4E61-8BAC-6FD786525F75}">
      <dgm:prSet phldrT="1" phldr="0"/>
      <dgm:spPr/>
      <dgm:t>
        <a:bodyPr/>
        <a:lstStyle/>
        <a:p>
          <a:endParaRPr lang="en-US"/>
        </a:p>
      </dgm:t>
    </dgm:pt>
    <dgm:pt modelId="{4D045725-5431-428C-B271-8A4EB5F605EA}">
      <dgm:prSet/>
      <dgm:spPr/>
      <dgm:t>
        <a:bodyPr/>
        <a:lstStyle/>
        <a:p>
          <a:r>
            <a:rPr lang="en-GB" dirty="0"/>
            <a:t>I would also like to extend my sincere thanks to </a:t>
          </a:r>
          <a:r>
            <a:rPr lang="en-GB" b="1" dirty="0"/>
            <a:t>Manchester Metropolitan University</a:t>
          </a:r>
          <a:r>
            <a:rPr lang="en-GB" dirty="0"/>
            <a:t> for providing me with the resources and opportunity to carry out this research. A special thanks to my course leader, </a:t>
          </a:r>
          <a:r>
            <a:rPr lang="en-GB" b="1" dirty="0" err="1"/>
            <a:t>Dr.</a:t>
          </a:r>
          <a:r>
            <a:rPr lang="en-GB" b="1" dirty="0"/>
            <a:t> Luciano Gerber</a:t>
          </a:r>
          <a:r>
            <a:rPr lang="en-GB" dirty="0"/>
            <a:t>, for his continuous support and guidance throughout the course. His leadership and encouragement have been instrumental in helping me navigate the challenges of this project and complete it successfully.</a:t>
          </a:r>
          <a:endParaRPr lang="en-US" dirty="0"/>
        </a:p>
      </dgm:t>
    </dgm:pt>
    <dgm:pt modelId="{0691F0A7-A409-486C-8A80-42F00C4B500B}" type="parTrans" cxnId="{9383A93A-77D9-4440-BC95-113DC1EFB045}">
      <dgm:prSet/>
      <dgm:spPr/>
      <dgm:t>
        <a:bodyPr/>
        <a:lstStyle/>
        <a:p>
          <a:endParaRPr lang="en-US"/>
        </a:p>
      </dgm:t>
    </dgm:pt>
    <dgm:pt modelId="{F7BD3486-D016-4470-9FA5-C625511F5755}" type="sibTrans" cxnId="{9383A93A-77D9-4440-BC95-113DC1EFB045}">
      <dgm:prSet phldrT="2" phldr="0"/>
      <dgm:spPr/>
      <dgm:t>
        <a:bodyPr/>
        <a:lstStyle/>
        <a:p>
          <a:endParaRPr lang="en-US"/>
        </a:p>
      </dgm:t>
    </dgm:pt>
    <dgm:pt modelId="{C0960F7F-31CB-464C-90B0-43064EFA9B0E}">
      <dgm:prSet/>
      <dgm:spPr/>
      <dgm:t>
        <a:bodyPr/>
        <a:lstStyle/>
        <a:p>
          <a:r>
            <a:rPr lang="en-GB" dirty="0"/>
            <a:t>Finally, I would like to thank my family for the constant support and trust.</a:t>
          </a:r>
          <a:endParaRPr lang="en-US" dirty="0"/>
        </a:p>
      </dgm:t>
    </dgm:pt>
    <dgm:pt modelId="{4E13F2A4-42BB-438C-A5E3-E5AB54E6FD6E}" type="parTrans" cxnId="{B45393A1-2755-43FF-9F76-B18AA0B8A4A3}">
      <dgm:prSet/>
      <dgm:spPr/>
      <dgm:t>
        <a:bodyPr/>
        <a:lstStyle/>
        <a:p>
          <a:endParaRPr lang="en-US"/>
        </a:p>
      </dgm:t>
    </dgm:pt>
    <dgm:pt modelId="{4BCF9DB5-BCDA-4232-B0E2-944B59A9A619}" type="sibTrans" cxnId="{B45393A1-2755-43FF-9F76-B18AA0B8A4A3}">
      <dgm:prSet phldrT="3" phldr="0"/>
      <dgm:spPr/>
      <dgm:t>
        <a:bodyPr/>
        <a:lstStyle/>
        <a:p>
          <a:endParaRPr lang="en-US"/>
        </a:p>
      </dgm:t>
    </dgm:pt>
    <dgm:pt modelId="{CEF3E513-B57D-4223-A63C-A62A9CD1DFB9}" type="pres">
      <dgm:prSet presAssocID="{A125FC90-8C65-4F58-B58B-6959AB292ECB}" presName="vert0" presStyleCnt="0">
        <dgm:presLayoutVars>
          <dgm:dir/>
          <dgm:animOne val="branch"/>
          <dgm:animLvl val="lvl"/>
        </dgm:presLayoutVars>
      </dgm:prSet>
      <dgm:spPr/>
    </dgm:pt>
    <dgm:pt modelId="{819D23C8-0F0C-4106-AAD1-3493755CED57}" type="pres">
      <dgm:prSet presAssocID="{DC948BE0-475C-48C6-A998-8D196AE4D987}" presName="thickLine" presStyleLbl="alignNode1" presStyleIdx="0" presStyleCnt="3"/>
      <dgm:spPr/>
    </dgm:pt>
    <dgm:pt modelId="{F5261507-D70B-415B-B78C-67A36040A270}" type="pres">
      <dgm:prSet presAssocID="{DC948BE0-475C-48C6-A998-8D196AE4D987}" presName="horz1" presStyleCnt="0"/>
      <dgm:spPr/>
    </dgm:pt>
    <dgm:pt modelId="{73121100-758B-4C7C-9604-7EB91047EDE0}" type="pres">
      <dgm:prSet presAssocID="{DC948BE0-475C-48C6-A998-8D196AE4D987}" presName="tx1" presStyleLbl="revTx" presStyleIdx="0" presStyleCnt="3"/>
      <dgm:spPr/>
    </dgm:pt>
    <dgm:pt modelId="{C130CBF5-F324-456E-8011-C9433D9192E4}" type="pres">
      <dgm:prSet presAssocID="{DC948BE0-475C-48C6-A998-8D196AE4D987}" presName="vert1" presStyleCnt="0"/>
      <dgm:spPr/>
    </dgm:pt>
    <dgm:pt modelId="{B40FC20D-FA55-4D70-9161-45ED0CE7F882}" type="pres">
      <dgm:prSet presAssocID="{4D045725-5431-428C-B271-8A4EB5F605EA}" presName="thickLine" presStyleLbl="alignNode1" presStyleIdx="1" presStyleCnt="3"/>
      <dgm:spPr/>
    </dgm:pt>
    <dgm:pt modelId="{4D6CCC38-F7A4-4440-A39C-3ACA0B999DED}" type="pres">
      <dgm:prSet presAssocID="{4D045725-5431-428C-B271-8A4EB5F605EA}" presName="horz1" presStyleCnt="0"/>
      <dgm:spPr/>
    </dgm:pt>
    <dgm:pt modelId="{50EDCBE9-6B70-40F9-B76C-770C14BF96E3}" type="pres">
      <dgm:prSet presAssocID="{4D045725-5431-428C-B271-8A4EB5F605EA}" presName="tx1" presStyleLbl="revTx" presStyleIdx="1" presStyleCnt="3"/>
      <dgm:spPr/>
    </dgm:pt>
    <dgm:pt modelId="{79F5A313-FC24-452B-9D14-788DFD0AF33B}" type="pres">
      <dgm:prSet presAssocID="{4D045725-5431-428C-B271-8A4EB5F605EA}" presName="vert1" presStyleCnt="0"/>
      <dgm:spPr/>
    </dgm:pt>
    <dgm:pt modelId="{C8715017-76DD-4C54-A6A4-E29BB2073E89}" type="pres">
      <dgm:prSet presAssocID="{C0960F7F-31CB-464C-90B0-43064EFA9B0E}" presName="thickLine" presStyleLbl="alignNode1" presStyleIdx="2" presStyleCnt="3"/>
      <dgm:spPr/>
    </dgm:pt>
    <dgm:pt modelId="{7D16CB11-2AD3-40DD-BF6D-43693DB41D6D}" type="pres">
      <dgm:prSet presAssocID="{C0960F7F-31CB-464C-90B0-43064EFA9B0E}" presName="horz1" presStyleCnt="0"/>
      <dgm:spPr/>
    </dgm:pt>
    <dgm:pt modelId="{12DB3587-1D3B-40BB-BB1F-37A93199F7C7}" type="pres">
      <dgm:prSet presAssocID="{C0960F7F-31CB-464C-90B0-43064EFA9B0E}" presName="tx1" presStyleLbl="revTx" presStyleIdx="2" presStyleCnt="3"/>
      <dgm:spPr/>
    </dgm:pt>
    <dgm:pt modelId="{C4C074CA-126D-4427-B1B8-8B161A6E8727}" type="pres">
      <dgm:prSet presAssocID="{C0960F7F-31CB-464C-90B0-43064EFA9B0E}" presName="vert1" presStyleCnt="0"/>
      <dgm:spPr/>
    </dgm:pt>
  </dgm:ptLst>
  <dgm:cxnLst>
    <dgm:cxn modelId="{70982D12-BB5D-466F-8EA4-761F0570E1E1}" type="presOf" srcId="{C0960F7F-31CB-464C-90B0-43064EFA9B0E}" destId="{12DB3587-1D3B-40BB-BB1F-37A93199F7C7}" srcOrd="0" destOrd="0" presId="urn:microsoft.com/office/officeart/2008/layout/LinedList"/>
    <dgm:cxn modelId="{EE6E0A1E-9852-4E61-8BAC-6FD786525F75}" srcId="{A125FC90-8C65-4F58-B58B-6959AB292ECB}" destId="{DC948BE0-475C-48C6-A998-8D196AE4D987}" srcOrd="0" destOrd="0" parTransId="{ADF00DD1-6045-47EC-B506-99B677883931}" sibTransId="{801F7441-EA2D-47F2-8F2D-A40557C67C64}"/>
    <dgm:cxn modelId="{9383A93A-77D9-4440-BC95-113DC1EFB045}" srcId="{A125FC90-8C65-4F58-B58B-6959AB292ECB}" destId="{4D045725-5431-428C-B271-8A4EB5F605EA}" srcOrd="1" destOrd="0" parTransId="{0691F0A7-A409-486C-8A80-42F00C4B500B}" sibTransId="{F7BD3486-D016-4470-9FA5-C625511F5755}"/>
    <dgm:cxn modelId="{D5913050-6FA0-4980-A64D-5609F19F4EDF}" type="presOf" srcId="{DC948BE0-475C-48C6-A998-8D196AE4D987}" destId="{73121100-758B-4C7C-9604-7EB91047EDE0}" srcOrd="0" destOrd="0" presId="urn:microsoft.com/office/officeart/2008/layout/LinedList"/>
    <dgm:cxn modelId="{B45393A1-2755-43FF-9F76-B18AA0B8A4A3}" srcId="{A125FC90-8C65-4F58-B58B-6959AB292ECB}" destId="{C0960F7F-31CB-464C-90B0-43064EFA9B0E}" srcOrd="2" destOrd="0" parTransId="{4E13F2A4-42BB-438C-A5E3-E5AB54E6FD6E}" sibTransId="{4BCF9DB5-BCDA-4232-B0E2-944B59A9A619}"/>
    <dgm:cxn modelId="{8017E3CF-8B3F-4402-842F-87384AEF94A1}" type="presOf" srcId="{A125FC90-8C65-4F58-B58B-6959AB292ECB}" destId="{CEF3E513-B57D-4223-A63C-A62A9CD1DFB9}" srcOrd="0" destOrd="0" presId="urn:microsoft.com/office/officeart/2008/layout/LinedList"/>
    <dgm:cxn modelId="{1412F0F7-ECF3-4251-A27B-1914E5783063}" type="presOf" srcId="{4D045725-5431-428C-B271-8A4EB5F605EA}" destId="{50EDCBE9-6B70-40F9-B76C-770C14BF96E3}" srcOrd="0" destOrd="0" presId="urn:microsoft.com/office/officeart/2008/layout/LinedList"/>
    <dgm:cxn modelId="{E2FCAF37-6FF2-416E-880E-3DDFEB30048F}" type="presParOf" srcId="{CEF3E513-B57D-4223-A63C-A62A9CD1DFB9}" destId="{819D23C8-0F0C-4106-AAD1-3493755CED57}" srcOrd="0" destOrd="0" presId="urn:microsoft.com/office/officeart/2008/layout/LinedList"/>
    <dgm:cxn modelId="{2CF09E05-3F16-47A3-9DE7-A60258C288DB}" type="presParOf" srcId="{CEF3E513-B57D-4223-A63C-A62A9CD1DFB9}" destId="{F5261507-D70B-415B-B78C-67A36040A270}" srcOrd="1" destOrd="0" presId="urn:microsoft.com/office/officeart/2008/layout/LinedList"/>
    <dgm:cxn modelId="{CCE04DEB-ED74-4E3E-9FD4-B537270A9D0E}" type="presParOf" srcId="{F5261507-D70B-415B-B78C-67A36040A270}" destId="{73121100-758B-4C7C-9604-7EB91047EDE0}" srcOrd="0" destOrd="0" presId="urn:microsoft.com/office/officeart/2008/layout/LinedList"/>
    <dgm:cxn modelId="{B259563E-CB24-445E-9510-3C2E560B8EA8}" type="presParOf" srcId="{F5261507-D70B-415B-B78C-67A36040A270}" destId="{C130CBF5-F324-456E-8011-C9433D9192E4}" srcOrd="1" destOrd="0" presId="urn:microsoft.com/office/officeart/2008/layout/LinedList"/>
    <dgm:cxn modelId="{5871E2E2-1A74-487F-BE7A-220539BD1B1E}" type="presParOf" srcId="{CEF3E513-B57D-4223-A63C-A62A9CD1DFB9}" destId="{B40FC20D-FA55-4D70-9161-45ED0CE7F882}" srcOrd="2" destOrd="0" presId="urn:microsoft.com/office/officeart/2008/layout/LinedList"/>
    <dgm:cxn modelId="{2CC92AF9-9A18-4EC5-B8BB-7048B124EDA5}" type="presParOf" srcId="{CEF3E513-B57D-4223-A63C-A62A9CD1DFB9}" destId="{4D6CCC38-F7A4-4440-A39C-3ACA0B999DED}" srcOrd="3" destOrd="0" presId="urn:microsoft.com/office/officeart/2008/layout/LinedList"/>
    <dgm:cxn modelId="{2994F2AD-955D-4268-96B4-48F33F66926B}" type="presParOf" srcId="{4D6CCC38-F7A4-4440-A39C-3ACA0B999DED}" destId="{50EDCBE9-6B70-40F9-B76C-770C14BF96E3}" srcOrd="0" destOrd="0" presId="urn:microsoft.com/office/officeart/2008/layout/LinedList"/>
    <dgm:cxn modelId="{20722A31-F4E5-4892-9AB2-826FEC116995}" type="presParOf" srcId="{4D6CCC38-F7A4-4440-A39C-3ACA0B999DED}" destId="{79F5A313-FC24-452B-9D14-788DFD0AF33B}" srcOrd="1" destOrd="0" presId="urn:microsoft.com/office/officeart/2008/layout/LinedList"/>
    <dgm:cxn modelId="{8E3A7B15-C443-4033-895E-2255AC56C355}" type="presParOf" srcId="{CEF3E513-B57D-4223-A63C-A62A9CD1DFB9}" destId="{C8715017-76DD-4C54-A6A4-E29BB2073E89}" srcOrd="4" destOrd="0" presId="urn:microsoft.com/office/officeart/2008/layout/LinedList"/>
    <dgm:cxn modelId="{6948D397-3B93-46B6-B75E-EA03341C3547}" type="presParOf" srcId="{CEF3E513-B57D-4223-A63C-A62A9CD1DFB9}" destId="{7D16CB11-2AD3-40DD-BF6D-43693DB41D6D}" srcOrd="5" destOrd="0" presId="urn:microsoft.com/office/officeart/2008/layout/LinedList"/>
    <dgm:cxn modelId="{1E55F840-918A-45FA-AE7A-49F67A5F3B03}" type="presParOf" srcId="{7D16CB11-2AD3-40DD-BF6D-43693DB41D6D}" destId="{12DB3587-1D3B-40BB-BB1F-37A93199F7C7}" srcOrd="0" destOrd="0" presId="urn:microsoft.com/office/officeart/2008/layout/LinedList"/>
    <dgm:cxn modelId="{CB529D10-1F24-489A-83CF-9250FEDEA699}" type="presParOf" srcId="{7D16CB11-2AD3-40DD-BF6D-43693DB41D6D}" destId="{C4C074CA-126D-4427-B1B8-8B161A6E8727}" srcOrd="1" destOrd="0" presId="urn:microsoft.com/office/officeart/2008/layout/Lined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9D23C8-0F0C-4106-AAD1-3493755CED57}">
      <dsp:nvSpPr>
        <dsp:cNvPr id="0" name=""/>
        <dsp:cNvSpPr/>
      </dsp:nvSpPr>
      <dsp:spPr>
        <a:xfrm>
          <a:off x="0" y="1977"/>
          <a:ext cx="67438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3121100-758B-4C7C-9604-7EB91047EDE0}">
      <dsp:nvSpPr>
        <dsp:cNvPr id="0" name=""/>
        <dsp:cNvSpPr/>
      </dsp:nvSpPr>
      <dsp:spPr>
        <a:xfrm>
          <a:off x="0" y="1977"/>
          <a:ext cx="6743845" cy="13489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a:t>I would like to express my deepest gratitude to my supervisor</a:t>
          </a:r>
          <a:r>
            <a:rPr lang="en-GB" sz="1300" b="1" kern="1200"/>
            <a:t>, Dr. Indranath Chatterjee</a:t>
          </a:r>
          <a:r>
            <a:rPr lang="en-GB" sz="1300" kern="1200"/>
            <a:t>, for his invaluable guidance, support, and encouragement throughout this project. It was under his insightful supervision that I was introduced to the idea for this research, and his expertise and advice were crucial at every step. His suggestions and feedback have been instrumental in shaping this project and overcoming the challenges I encountered. I am truly grateful for his time, patience, and mentorship, which made this journey a rewarding experience.</a:t>
          </a:r>
          <a:endParaRPr lang="en-US" sz="1300" kern="1200"/>
        </a:p>
      </dsp:txBody>
      <dsp:txXfrm>
        <a:off x="0" y="1977"/>
        <a:ext cx="6743845" cy="1348945"/>
      </dsp:txXfrm>
    </dsp:sp>
    <dsp:sp modelId="{B40FC20D-FA55-4D70-9161-45ED0CE7F882}">
      <dsp:nvSpPr>
        <dsp:cNvPr id="0" name=""/>
        <dsp:cNvSpPr/>
      </dsp:nvSpPr>
      <dsp:spPr>
        <a:xfrm>
          <a:off x="0" y="1350923"/>
          <a:ext cx="67438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0EDCBE9-6B70-40F9-B76C-770C14BF96E3}">
      <dsp:nvSpPr>
        <dsp:cNvPr id="0" name=""/>
        <dsp:cNvSpPr/>
      </dsp:nvSpPr>
      <dsp:spPr>
        <a:xfrm>
          <a:off x="0" y="1350923"/>
          <a:ext cx="6743845" cy="13489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I would also like to extend my sincere thanks to </a:t>
          </a:r>
          <a:r>
            <a:rPr lang="en-GB" sz="1300" b="1" kern="1200" dirty="0"/>
            <a:t>Manchester Metropolitan University</a:t>
          </a:r>
          <a:r>
            <a:rPr lang="en-GB" sz="1300" kern="1200" dirty="0"/>
            <a:t> for providing me with the resources and opportunity to carry out this research. A special thanks to my course leader, </a:t>
          </a:r>
          <a:r>
            <a:rPr lang="en-GB" sz="1300" b="1" kern="1200" dirty="0" err="1"/>
            <a:t>Dr.</a:t>
          </a:r>
          <a:r>
            <a:rPr lang="en-GB" sz="1300" b="1" kern="1200" dirty="0"/>
            <a:t> Luciano Gerber</a:t>
          </a:r>
          <a:r>
            <a:rPr lang="en-GB" sz="1300" kern="1200" dirty="0"/>
            <a:t>, for his continuous support and guidance throughout the course. His leadership and encouragement have been instrumental in helping me navigate the challenges of this project and complete it successfully.</a:t>
          </a:r>
          <a:endParaRPr lang="en-US" sz="1300" kern="1200" dirty="0"/>
        </a:p>
      </dsp:txBody>
      <dsp:txXfrm>
        <a:off x="0" y="1350923"/>
        <a:ext cx="6743845" cy="1348945"/>
      </dsp:txXfrm>
    </dsp:sp>
    <dsp:sp modelId="{C8715017-76DD-4C54-A6A4-E29BB2073E89}">
      <dsp:nvSpPr>
        <dsp:cNvPr id="0" name=""/>
        <dsp:cNvSpPr/>
      </dsp:nvSpPr>
      <dsp:spPr>
        <a:xfrm>
          <a:off x="0" y="2699868"/>
          <a:ext cx="674384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2DB3587-1D3B-40BB-BB1F-37A93199F7C7}">
      <dsp:nvSpPr>
        <dsp:cNvPr id="0" name=""/>
        <dsp:cNvSpPr/>
      </dsp:nvSpPr>
      <dsp:spPr>
        <a:xfrm>
          <a:off x="0" y="2699868"/>
          <a:ext cx="6743845" cy="13489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GB" sz="1300" kern="1200" dirty="0"/>
            <a:t>Finally, I would like to thank my family for the constant support and trust.</a:t>
          </a:r>
          <a:endParaRPr lang="en-US" sz="1300" kern="1200" dirty="0"/>
        </a:p>
      </dsp:txBody>
      <dsp:txXfrm>
        <a:off x="0" y="2699868"/>
        <a:ext cx="6743845" cy="1348945"/>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485584D-7D79-4248-9986-4CA35242F944}" type="datetimeFigureOut">
              <a:rPr lang="en-US" smtClean="0"/>
              <a:t>10/2/2024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19590046-DA73-4BBF-84B5-C08E6F75191A}" type="slidenum">
              <a:rPr lang="en-US" smtClean="0"/>
              <a:t>‹#›</a:t>
            </a:fld>
            <a:endParaRPr lang="en-US"/>
          </a:p>
        </p:txBody>
      </p:sp>
    </p:spTree>
    <p:extLst>
      <p:ext uri="{BB962C8B-B14F-4D97-AF65-F5344CB8AC3E}">
        <p14:creationId xmlns:p14="http://schemas.microsoft.com/office/powerpoint/2010/main" val="543820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85584D-7D79-4248-9986-4CA35242F944}" type="datetimeFigureOut">
              <a:rPr lang="en-US" smtClean="0"/>
              <a:t>10/2/2024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8891999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485584D-7D79-4248-9986-4CA35242F944}" type="datetimeFigureOut">
              <a:rPr lang="en-US" smtClean="0"/>
              <a:t>10/2/2024</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19590046-DA73-4BBF-84B5-C08E6F75191A}" type="slidenum">
              <a:rPr lang="en-US" smtClean="0"/>
              <a:t>‹#›</a:t>
            </a:fld>
            <a:endParaRPr lang="en-US"/>
          </a:p>
        </p:txBody>
      </p:sp>
    </p:spTree>
    <p:extLst>
      <p:ext uri="{BB962C8B-B14F-4D97-AF65-F5344CB8AC3E}">
        <p14:creationId xmlns:p14="http://schemas.microsoft.com/office/powerpoint/2010/main" val="3742526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485584D-7D79-4248-9986-4CA35242F944}" type="datetimeFigureOut">
              <a:rPr lang="en-US" smtClean="0"/>
              <a:t>10/2/2024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300122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485584D-7D79-4248-9986-4CA35242F944}" type="datetimeFigureOut">
              <a:rPr lang="en-US" smtClean="0"/>
              <a:t>10/2/2024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2820503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485584D-7D79-4248-9986-4CA35242F944}" type="datetimeFigureOut">
              <a:rPr lang="en-US" smtClean="0"/>
              <a:t>10/2/2024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9058439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85584D-7D79-4248-9986-4CA35242F944}" type="datetimeFigureOut">
              <a:rPr lang="en-US" smtClean="0"/>
              <a:t>10/2/2024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935034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85584D-7D79-4248-9986-4CA35242F944}" type="datetimeFigureOut">
              <a:rPr lang="en-US" smtClean="0"/>
              <a:t>10/2/2024</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3739140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85584D-7D79-4248-9986-4CA35242F944}" type="datetimeFigureOut">
              <a:rPr lang="en-US" smtClean="0"/>
              <a:t>10/2/2024</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198443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85584D-7D79-4248-9986-4CA35242F944}" type="datetimeFigureOut">
              <a:rPr lang="en-US" smtClean="0"/>
              <a:t>10/2/2024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299605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85584D-7D79-4248-9986-4CA35242F944}" type="datetimeFigureOut">
              <a:rPr lang="en-US" smtClean="0"/>
              <a:t>10/2/2024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2318308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C485584D-7D79-4248-9986-4CA35242F944}" type="datetimeFigureOut">
              <a:rPr lang="en-US" smtClean="0"/>
              <a:t>10/2/2024</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19590046-DA73-4BBF-84B5-C08E6F75191A}" type="slidenum">
              <a:rPr lang="en-US" smtClean="0"/>
              <a:t>‹#›</a:t>
            </a:fld>
            <a:endParaRPr lang="en-US"/>
          </a:p>
        </p:txBody>
      </p:sp>
    </p:spTree>
    <p:extLst>
      <p:ext uri="{BB962C8B-B14F-4D97-AF65-F5344CB8AC3E}">
        <p14:creationId xmlns:p14="http://schemas.microsoft.com/office/powerpoint/2010/main" val="1990461920"/>
      </p:ext>
    </p:extLst>
  </p:cSld>
  <p:clrMap bg1="lt1" tx1="dk1" bg2="lt2" tx2="dk2" accent1="accent1" accent2="accent2" accent3="accent3" accent4="accent4" accent5="accent5" accent6="accent6" hlink="hlink" folHlink="folHlink"/>
  <p:sldLayoutIdLst>
    <p:sldLayoutId id="2147483874" r:id="rId1"/>
    <p:sldLayoutId id="2147483875" r:id="rId2"/>
    <p:sldLayoutId id="2147483876" r:id="rId3"/>
    <p:sldLayoutId id="2147483877" r:id="rId4"/>
    <p:sldLayoutId id="2147483878" r:id="rId5"/>
    <p:sldLayoutId id="2147483879" r:id="rId6"/>
    <p:sldLayoutId id="2147483880" r:id="rId7"/>
    <p:sldLayoutId id="2147483881" r:id="rId8"/>
    <p:sldLayoutId id="2147483882" r:id="rId9"/>
    <p:sldLayoutId id="2147483883" r:id="rId10"/>
    <p:sldLayoutId id="2147483884"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Layout" Target="../slideLayouts/slideLayout1.xml"/><Relationship Id="rId4" Type="http://schemas.microsoft.com/office/2007/relationships/hdphoto" Target="../media/hdphoto2.wdp"/></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2.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png"/><Relationship Id="rId5" Type="http://schemas.microsoft.com/office/2007/relationships/hdphoto" Target="../media/hdphoto2.wdp"/><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png"/><Relationship Id="rId5" Type="http://schemas.microsoft.com/office/2007/relationships/hdphoto" Target="../media/hdphoto4.wdp"/><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microsoft.com/office/2007/relationships/hdphoto" Target="../media/hdphoto2.wdp"/><Relationship Id="rId7" Type="http://schemas.openxmlformats.org/officeDocument/2006/relationships/diagramLayout" Target="../diagrams/layout1.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Data" Target="../diagrams/data1.xml"/><Relationship Id="rId5" Type="http://schemas.openxmlformats.org/officeDocument/2006/relationships/image" Target="../media/image2.png"/><Relationship Id="rId10" Type="http://schemas.microsoft.com/office/2007/relationships/diagramDrawing" Target="../diagrams/drawing1.xml"/><Relationship Id="rId4" Type="http://schemas.openxmlformats.org/officeDocument/2006/relationships/image" Target="../media/image23.jpeg"/><Relationship Id="rId9" Type="http://schemas.openxmlformats.org/officeDocument/2006/relationships/diagramColors" Target="../diagrams/colors1.xml"/></Relationships>
</file>

<file path=ppt/slides/_rels/slide17.xml.rels><?xml version="1.0" encoding="UTF-8" standalone="yes"?>
<Relationships xmlns="http://schemas.openxmlformats.org/package/2006/relationships"><Relationship Id="rId3" Type="http://schemas.microsoft.com/office/2007/relationships/hdphoto" Target="../media/hdphoto2.wdp"/><Relationship Id="rId7"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4.png"/><Relationship Id="rId5" Type="http://schemas.microsoft.com/office/2007/relationships/hdphoto" Target="../media/hdphoto1.wdp"/><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Network connection abstract against a white background">
            <a:extLst>
              <a:ext uri="{FF2B5EF4-FFF2-40B4-BE49-F238E27FC236}">
                <a16:creationId xmlns:a16="http://schemas.microsoft.com/office/drawing/2014/main" id="{99244640-E3FE-1543-DD79-EB157A07D42E}"/>
              </a:ext>
            </a:extLst>
          </p:cNvPr>
          <p:cNvPicPr>
            <a:picLocks noChangeAspect="1"/>
          </p:cNvPicPr>
          <p:nvPr/>
        </p:nvPicPr>
        <p:blipFill>
          <a:blip r:embed="rId2"/>
          <a:srcRect t="15730"/>
          <a:stretch/>
        </p:blipFill>
        <p:spPr>
          <a:xfrm>
            <a:off x="0" y="1"/>
            <a:ext cx="12192001" cy="6857999"/>
          </a:xfrm>
          <a:prstGeom prst="rect">
            <a:avLst/>
          </a:prstGeom>
        </p:spPr>
      </p:pic>
      <p:sp>
        <p:nvSpPr>
          <p:cNvPr id="21" name="Rectangle 20">
            <a:extLst>
              <a:ext uri="{FF2B5EF4-FFF2-40B4-BE49-F238E27FC236}">
                <a16:creationId xmlns:a16="http://schemas.microsoft.com/office/drawing/2014/main" id="{CD60390C-0E4C-4682-8246-AFA2E4985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3837459"/>
            <a:ext cx="10222992" cy="80683"/>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2" name="Rectangle 21">
            <a:extLst>
              <a:ext uri="{FF2B5EF4-FFF2-40B4-BE49-F238E27FC236}">
                <a16:creationId xmlns:a16="http://schemas.microsoft.com/office/drawing/2014/main" id="{CEBA87F4-FB8A-4D91-B3F3-DFA78E0CC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3981573"/>
            <a:ext cx="10222992" cy="2078335"/>
          </a:xfrm>
          <a:prstGeom prst="rect">
            <a:avLst/>
          </a:prstGeom>
          <a:blipFill dpi="0" rotWithShape="1">
            <a:blip r:embed="rId3">
              <a:alphaModFix amt="9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1942E88B-ABCF-9E91-5B4E-2E8A7BC73AAA}"/>
              </a:ext>
            </a:extLst>
          </p:cNvPr>
          <p:cNvSpPr>
            <a:spLocks noGrp="1"/>
          </p:cNvSpPr>
          <p:nvPr>
            <p:ph type="ctrTitle"/>
          </p:nvPr>
        </p:nvSpPr>
        <p:spPr>
          <a:xfrm>
            <a:off x="1173480" y="4277802"/>
            <a:ext cx="6022449" cy="1622451"/>
          </a:xfrm>
        </p:spPr>
        <p:txBody>
          <a:bodyPr>
            <a:normAutofit fontScale="90000"/>
          </a:bodyPr>
          <a:lstStyle/>
          <a:p>
            <a:pPr algn="ctr"/>
            <a:r>
              <a:rPr lang="en-GB" sz="3200" dirty="0">
                <a:latin typeface="Rockwell Condensed" panose="02060603050405020104" pitchFamily="18" charset="0"/>
                <a:ea typeface="ADLaM Display" panose="02010000000000000000" pitchFamily="2" charset="0"/>
                <a:cs typeface="ADLaM Display" panose="02010000000000000000" pitchFamily="2" charset="0"/>
              </a:rPr>
              <a:t>Development of a Novel Deep Learning Framework for Differentiating Functional Connectomes in Schizophrenia Using Resting-State Functional MRI</a:t>
            </a:r>
            <a:endParaRPr lang="en-GB" sz="23300" dirty="0">
              <a:latin typeface="Rockwell Condensed" panose="02060603050405020104" pitchFamily="18" charset="0"/>
              <a:ea typeface="ADLaM Display" panose="02010000000000000000" pitchFamily="2" charset="0"/>
              <a:cs typeface="ADLaM Display" panose="02010000000000000000" pitchFamily="2" charset="0"/>
            </a:endParaRPr>
          </a:p>
        </p:txBody>
      </p:sp>
      <p:sp>
        <p:nvSpPr>
          <p:cNvPr id="3" name="Subtitle 2">
            <a:extLst>
              <a:ext uri="{FF2B5EF4-FFF2-40B4-BE49-F238E27FC236}">
                <a16:creationId xmlns:a16="http://schemas.microsoft.com/office/drawing/2014/main" id="{A0895103-7E40-E22B-DEDF-C390AF6B8D9C}"/>
              </a:ext>
            </a:extLst>
          </p:cNvPr>
          <p:cNvSpPr>
            <a:spLocks noGrp="1"/>
          </p:cNvSpPr>
          <p:nvPr>
            <p:ph type="subTitle" idx="1"/>
          </p:nvPr>
        </p:nvSpPr>
        <p:spPr>
          <a:xfrm>
            <a:off x="7534654" y="4190337"/>
            <a:ext cx="3483865" cy="1709917"/>
          </a:xfrm>
        </p:spPr>
        <p:txBody>
          <a:bodyPr anchor="ctr">
            <a:normAutofit fontScale="70000" lnSpcReduction="20000"/>
          </a:bodyPr>
          <a:lstStyle/>
          <a:p>
            <a:pPr algn="ctr"/>
            <a:r>
              <a:rPr lang="en-GB">
                <a:latin typeface="Britannic Bold" panose="020B0903060703020204" pitchFamily="34" charset="0"/>
              </a:rPr>
              <a:t>BLESSEN KOSHY SUJAN (23645007)</a:t>
            </a:r>
          </a:p>
          <a:p>
            <a:pPr algn="ctr"/>
            <a:r>
              <a:rPr lang="en-GB">
                <a:latin typeface="Britannic Bold" panose="020B0903060703020204" pitchFamily="34" charset="0"/>
              </a:rPr>
              <a:t>MSc Data Science</a:t>
            </a:r>
          </a:p>
          <a:p>
            <a:pPr algn="ctr"/>
            <a:r>
              <a:rPr lang="en-GB">
                <a:latin typeface="Britannic Bold" panose="020B0903060703020204" pitchFamily="34" charset="0"/>
              </a:rPr>
              <a:t>Department of Computing and Mathematics</a:t>
            </a:r>
          </a:p>
          <a:p>
            <a:pPr algn="ctr"/>
            <a:r>
              <a:rPr lang="en-GB">
                <a:latin typeface="Britannic Bold" panose="020B0903060703020204" pitchFamily="34" charset="0"/>
              </a:rPr>
              <a:t>Manchester Metropolitan University</a:t>
            </a:r>
          </a:p>
          <a:p>
            <a:pPr algn="ctr"/>
            <a:r>
              <a:rPr lang="en-GB">
                <a:latin typeface="Britannic Bold" panose="020B0903060703020204" pitchFamily="34" charset="0"/>
              </a:rPr>
              <a:t>September 2024</a:t>
            </a:r>
            <a:endParaRPr lang="en-GB" dirty="0">
              <a:latin typeface="Britannic Bold" panose="020B0903060703020204" pitchFamily="34" charset="0"/>
            </a:endParaRPr>
          </a:p>
        </p:txBody>
      </p:sp>
      <p:sp>
        <p:nvSpPr>
          <p:cNvPr id="23" name="Rectangle 22">
            <a:extLst>
              <a:ext uri="{FF2B5EF4-FFF2-40B4-BE49-F238E27FC236}">
                <a16:creationId xmlns:a16="http://schemas.microsoft.com/office/drawing/2014/main" id="{D012A90F-45C2-4C9B-BAF6-9CE1F546C7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128670"/>
            <a:ext cx="10222992" cy="80683"/>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3572078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EFEEB-26B4-2F34-7B7B-CF39CBFDE383}"/>
              </a:ext>
            </a:extLst>
          </p:cNvPr>
          <p:cNvSpPr>
            <a:spLocks noGrp="1"/>
          </p:cNvSpPr>
          <p:nvPr>
            <p:ph type="title"/>
          </p:nvPr>
        </p:nvSpPr>
        <p:spPr>
          <a:xfrm>
            <a:off x="136505" y="280650"/>
            <a:ext cx="4730451" cy="1637730"/>
          </a:xfrm>
        </p:spPr>
        <p:txBody>
          <a:bodyPr>
            <a:normAutofit/>
          </a:bodyPr>
          <a:lstStyle/>
          <a:p>
            <a:r>
              <a:rPr lang="en-GB" sz="4400" dirty="0"/>
              <a:t>INTRODUCTION</a:t>
            </a:r>
          </a:p>
        </p:txBody>
      </p:sp>
      <p:sp>
        <p:nvSpPr>
          <p:cNvPr id="1030" name="Content Placeholder 1029">
            <a:extLst>
              <a:ext uri="{FF2B5EF4-FFF2-40B4-BE49-F238E27FC236}">
                <a16:creationId xmlns:a16="http://schemas.microsoft.com/office/drawing/2014/main" id="{DB80E1DD-615D-2EAB-1EA2-2B2BA1ECE659}"/>
              </a:ext>
            </a:extLst>
          </p:cNvPr>
          <p:cNvSpPr>
            <a:spLocks noGrp="1"/>
          </p:cNvSpPr>
          <p:nvPr>
            <p:ph idx="1"/>
          </p:nvPr>
        </p:nvSpPr>
        <p:spPr>
          <a:xfrm>
            <a:off x="136506" y="1918380"/>
            <a:ext cx="5889752" cy="3955477"/>
          </a:xfrm>
        </p:spPr>
        <p:txBody>
          <a:bodyPr>
            <a:normAutofit lnSpcReduction="10000"/>
          </a:bodyPr>
          <a:lstStyle/>
          <a:p>
            <a:r>
              <a:rPr lang="en-US" dirty="0"/>
              <a:t>Schizophrenia is a chronic and severe mental disorder that affects how a person thinks, feels, or behave.</a:t>
            </a:r>
          </a:p>
          <a:p>
            <a:r>
              <a:rPr lang="en-US" dirty="0"/>
              <a:t>About </a:t>
            </a:r>
            <a:r>
              <a:rPr lang="en-US" b="1" dirty="0"/>
              <a:t>1%</a:t>
            </a:r>
            <a:r>
              <a:rPr lang="en-US" dirty="0"/>
              <a:t> of the world’s population is affected.</a:t>
            </a:r>
          </a:p>
          <a:p>
            <a:r>
              <a:rPr lang="en-US" dirty="0"/>
              <a:t>Current diagnostics rely on subjective clinical evaluations and misdiagnosis leads to delay in treatments.</a:t>
            </a:r>
          </a:p>
          <a:p>
            <a:r>
              <a:rPr lang="en-GB" dirty="0"/>
              <a:t>fMRI and deep learning offer more objective insights.</a:t>
            </a:r>
          </a:p>
          <a:p>
            <a:r>
              <a:rPr lang="en-GB" b="1" i="1" dirty="0"/>
              <a:t>Objective: Classify schizophrenia patients using functional connectivity from Rs-fMRI with a novel CNN-LSTM model.</a:t>
            </a:r>
            <a:endParaRPr lang="en-US" b="1" i="1" dirty="0"/>
          </a:p>
          <a:p>
            <a:endParaRPr lang="en-US" sz="1800" b="1" dirty="0"/>
          </a:p>
          <a:p>
            <a:endParaRPr lang="en-US" sz="1800" b="1" dirty="0"/>
          </a:p>
          <a:p>
            <a:endParaRPr lang="en-US" sz="1800" b="1" dirty="0"/>
          </a:p>
        </p:txBody>
      </p:sp>
      <p:pic>
        <p:nvPicPr>
          <p:cNvPr id="1026" name="Picture 2" descr="Schizophrenia art">
            <a:extLst>
              <a:ext uri="{FF2B5EF4-FFF2-40B4-BE49-F238E27FC236}">
                <a16:creationId xmlns:a16="http://schemas.microsoft.com/office/drawing/2014/main" id="{EC84F383-B553-5D2A-FBE4-5FF6EA7FB8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1450" r="-2" b="1170"/>
          <a:stretch/>
        </p:blipFill>
        <p:spPr bwMode="auto">
          <a:xfrm>
            <a:off x="5913124" y="10"/>
            <a:ext cx="6278877" cy="6857990"/>
          </a:xfrm>
          <a:custGeom>
            <a:avLst/>
            <a:gdLst/>
            <a:ahLst/>
            <a:cxnLst/>
            <a:rect l="l" t="t" r="r" b="b"/>
            <a:pathLst>
              <a:path w="6278877" h="6858000">
                <a:moveTo>
                  <a:pt x="45571" y="0"/>
                </a:moveTo>
                <a:lnTo>
                  <a:pt x="6278877" y="0"/>
                </a:lnTo>
                <a:lnTo>
                  <a:pt x="6278877" y="6858000"/>
                </a:lnTo>
                <a:lnTo>
                  <a:pt x="3292307" y="6858000"/>
                </a:lnTo>
                <a:lnTo>
                  <a:pt x="3181525" y="6786980"/>
                </a:lnTo>
                <a:cubicBezTo>
                  <a:pt x="1262020" y="5490189"/>
                  <a:pt x="0" y="3294101"/>
                  <a:pt x="0" y="803252"/>
                </a:cubicBezTo>
                <a:cubicBezTo>
                  <a:pt x="0" y="554167"/>
                  <a:pt x="12619" y="308030"/>
                  <a:pt x="37255" y="65445"/>
                </a:cubicBezTo>
                <a:close/>
              </a:path>
            </a:pathLst>
          </a:custGeom>
          <a:noFill/>
          <a:extLst>
            <a:ext uri="{909E8E84-426E-40DD-AFC4-6F175D3DCCD1}">
              <a14:hiddenFill xmlns:a14="http://schemas.microsoft.com/office/drawing/2010/main">
                <a:solidFill>
                  <a:srgbClr val="FFFFFF"/>
                </a:solidFill>
              </a14:hiddenFill>
            </a:ext>
          </a:extLst>
        </p:spPr>
      </p:pic>
      <p:sp>
        <p:nvSpPr>
          <p:cNvPr id="1090" name="Freeform: Shape 1089">
            <a:extLst>
              <a:ext uri="{FF2B5EF4-FFF2-40B4-BE49-F238E27FC236}">
                <a16:creationId xmlns:a16="http://schemas.microsoft.com/office/drawing/2014/main" id="{484E34F7-E155-426C-A88E-8AEA6CF3F7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13123" y="0"/>
            <a:ext cx="6278877" cy="6858000"/>
          </a:xfrm>
          <a:custGeom>
            <a:avLst/>
            <a:gdLst>
              <a:gd name="connsiteX0" fmla="*/ 45571 w 6278877"/>
              <a:gd name="connsiteY0" fmla="*/ 0 h 6858000"/>
              <a:gd name="connsiteX1" fmla="*/ 6278877 w 6278877"/>
              <a:gd name="connsiteY1" fmla="*/ 0 h 6858000"/>
              <a:gd name="connsiteX2" fmla="*/ 6278877 w 6278877"/>
              <a:gd name="connsiteY2" fmla="*/ 6858000 h 6858000"/>
              <a:gd name="connsiteX3" fmla="*/ 3292307 w 6278877"/>
              <a:gd name="connsiteY3" fmla="*/ 6858000 h 6858000"/>
              <a:gd name="connsiteX4" fmla="*/ 3181525 w 6278877"/>
              <a:gd name="connsiteY4" fmla="*/ 6786980 h 6858000"/>
              <a:gd name="connsiteX5" fmla="*/ 0 w 6278877"/>
              <a:gd name="connsiteY5" fmla="*/ 803252 h 6858000"/>
              <a:gd name="connsiteX6" fmla="*/ 37255 w 6278877"/>
              <a:gd name="connsiteY6" fmla="*/ 654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8877" h="6858000">
                <a:moveTo>
                  <a:pt x="45571" y="0"/>
                </a:moveTo>
                <a:lnTo>
                  <a:pt x="6278877" y="0"/>
                </a:lnTo>
                <a:lnTo>
                  <a:pt x="6278877" y="6858000"/>
                </a:lnTo>
                <a:lnTo>
                  <a:pt x="3292307" y="6858000"/>
                </a:lnTo>
                <a:lnTo>
                  <a:pt x="3181525" y="6786980"/>
                </a:lnTo>
                <a:cubicBezTo>
                  <a:pt x="1262020" y="5490189"/>
                  <a:pt x="0" y="3294101"/>
                  <a:pt x="0" y="803252"/>
                </a:cubicBezTo>
                <a:cubicBezTo>
                  <a:pt x="0" y="554167"/>
                  <a:pt x="12619" y="308030"/>
                  <a:pt x="37255" y="65445"/>
                </a:cubicBezTo>
                <a:close/>
              </a:path>
            </a:pathLst>
          </a:custGeom>
          <a:blipFill dpi="0" rotWithShape="1">
            <a:blip r:embed="rId3">
              <a:alphaModFix amt="30000"/>
              <a:duotone>
                <a:prstClr val="black"/>
                <a:schemeClr val="accent1">
                  <a:tint val="45000"/>
                  <a:satMod val="400000"/>
                </a:schemeClr>
              </a:duotone>
              <a:extLst>
                <a:ext uri="{BEBA8EAE-BF5A-486C-A8C5-ECC9F3942E4B}">
                  <a14:imgProps xmlns:a14="http://schemas.microsoft.com/office/drawing/2010/main">
                    <a14:imgLayer r:embed="rId4">
                      <a14:imgEffect>
                        <a14:sharpenSoften amount="61000"/>
                      </a14:imgEffect>
                      <a14:imgEffect>
                        <a14:brightnessContrast bright="-25000" contrast="20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763526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7E1EE-64F4-D07D-884C-0C124029AE69}"/>
              </a:ext>
            </a:extLst>
          </p:cNvPr>
          <p:cNvSpPr>
            <a:spLocks noGrp="1"/>
          </p:cNvSpPr>
          <p:nvPr>
            <p:ph type="title"/>
          </p:nvPr>
        </p:nvSpPr>
        <p:spPr>
          <a:xfrm>
            <a:off x="1069848" y="484632"/>
            <a:ext cx="10058400" cy="1609344"/>
          </a:xfrm>
        </p:spPr>
        <p:txBody>
          <a:bodyPr>
            <a:normAutofit/>
          </a:bodyPr>
          <a:lstStyle/>
          <a:p>
            <a:r>
              <a:rPr lang="en-GB" sz="4400" dirty="0"/>
              <a:t>Problem Definition &amp; Aims</a:t>
            </a:r>
          </a:p>
        </p:txBody>
      </p:sp>
      <p:sp>
        <p:nvSpPr>
          <p:cNvPr id="2054" name="Content Placeholder 2053">
            <a:extLst>
              <a:ext uri="{FF2B5EF4-FFF2-40B4-BE49-F238E27FC236}">
                <a16:creationId xmlns:a16="http://schemas.microsoft.com/office/drawing/2014/main" id="{9574D6BF-5C99-2982-F02C-EDFA166A9192}"/>
              </a:ext>
            </a:extLst>
          </p:cNvPr>
          <p:cNvSpPr>
            <a:spLocks noGrp="1"/>
          </p:cNvSpPr>
          <p:nvPr>
            <p:ph idx="1"/>
          </p:nvPr>
        </p:nvSpPr>
        <p:spPr>
          <a:xfrm>
            <a:off x="1069848" y="2121408"/>
            <a:ext cx="4773168" cy="4050792"/>
          </a:xfrm>
        </p:spPr>
        <p:txBody>
          <a:bodyPr>
            <a:normAutofit/>
          </a:bodyPr>
          <a:lstStyle/>
          <a:p>
            <a:r>
              <a:rPr lang="en-US" dirty="0"/>
              <a:t>Problem: Misdiagnosis due to subjective evaluations and variability in brain activity.</a:t>
            </a:r>
          </a:p>
          <a:p>
            <a:r>
              <a:rPr lang="en-US" dirty="0"/>
              <a:t>Aims:</a:t>
            </a:r>
          </a:p>
          <a:p>
            <a:pPr marL="342900" indent="-342900">
              <a:buAutoNum type="arabicPeriod"/>
            </a:pPr>
            <a:r>
              <a:rPr lang="en-US" dirty="0"/>
              <a:t>Develop a 2D CNN-LSTM framework to classify schizophrenia using the COBRE dataset.</a:t>
            </a:r>
          </a:p>
          <a:p>
            <a:pPr marL="342900" indent="-342900">
              <a:buAutoNum type="arabicPeriod"/>
            </a:pPr>
            <a:r>
              <a:rPr lang="en-US" dirty="0"/>
              <a:t>Compare the model with existing techniques and improve diagnostic accuracy.</a:t>
            </a:r>
          </a:p>
          <a:p>
            <a:pPr marL="342900" indent="-342900">
              <a:buAutoNum type="arabicPeriod"/>
            </a:pPr>
            <a:r>
              <a:rPr lang="en-US" dirty="0"/>
              <a:t>Use saliency maps for interpretability.</a:t>
            </a:r>
          </a:p>
        </p:txBody>
      </p:sp>
      <p:pic>
        <p:nvPicPr>
          <p:cNvPr id="2050" name="Picture 2" descr="Schizophrenia Far More Common than Previously Thought, Study Finds -  MindSite News">
            <a:extLst>
              <a:ext uri="{FF2B5EF4-FFF2-40B4-BE49-F238E27FC236}">
                <a16:creationId xmlns:a16="http://schemas.microsoft.com/office/drawing/2014/main" id="{C114115B-0627-1089-8458-7B19DDCE60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457" r="-2" b="5694"/>
          <a:stretch/>
        </p:blipFill>
        <p:spPr bwMode="auto">
          <a:xfrm>
            <a:off x="6550794" y="2193036"/>
            <a:ext cx="4381740" cy="3980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1677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537AD-44BC-E787-9B4B-3B65F6C1C9D4}"/>
              </a:ext>
            </a:extLst>
          </p:cNvPr>
          <p:cNvSpPr>
            <a:spLocks noGrp="1"/>
          </p:cNvSpPr>
          <p:nvPr>
            <p:ph type="title"/>
          </p:nvPr>
        </p:nvSpPr>
        <p:spPr>
          <a:xfrm>
            <a:off x="7865806" y="484632"/>
            <a:ext cx="3677264" cy="1609344"/>
          </a:xfrm>
        </p:spPr>
        <p:txBody>
          <a:bodyPr>
            <a:normAutofit/>
          </a:bodyPr>
          <a:lstStyle/>
          <a:p>
            <a:r>
              <a:rPr lang="en-GB" sz="3600" dirty="0"/>
              <a:t>Dataset &amp; Methodology</a:t>
            </a:r>
          </a:p>
        </p:txBody>
      </p:sp>
      <p:pic>
        <p:nvPicPr>
          <p:cNvPr id="3074" name="Picture 2" descr="A diagram of a schematic diagram&#10;&#10;Description automatically generated">
            <a:extLst>
              <a:ext uri="{FF2B5EF4-FFF2-40B4-BE49-F238E27FC236}">
                <a16:creationId xmlns:a16="http://schemas.microsoft.com/office/drawing/2014/main" id="{64D820C7-AC7E-F92F-8D6C-A21616F76A3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33999" y="1204941"/>
            <a:ext cx="6912217" cy="4458379"/>
          </a:xfrm>
          <a:prstGeom prst="rect">
            <a:avLst/>
          </a:prstGeom>
          <a:noFill/>
          <a:extLst>
            <a:ext uri="{909E8E84-426E-40DD-AFC4-6F175D3DCCD1}">
              <a14:hiddenFill xmlns:a14="http://schemas.microsoft.com/office/drawing/2010/main">
                <a:solidFill>
                  <a:srgbClr val="FFFFFF"/>
                </a:solidFill>
              </a14:hiddenFill>
            </a:ext>
          </a:extLst>
        </p:spPr>
      </p:pic>
      <p:sp>
        <p:nvSpPr>
          <p:cNvPr id="3087" name="Content Placeholder 3077">
            <a:extLst>
              <a:ext uri="{FF2B5EF4-FFF2-40B4-BE49-F238E27FC236}">
                <a16:creationId xmlns:a16="http://schemas.microsoft.com/office/drawing/2014/main" id="{B3DF52C5-2075-CF62-8729-E2A84D119666}"/>
              </a:ext>
            </a:extLst>
          </p:cNvPr>
          <p:cNvSpPr>
            <a:spLocks noGrp="1"/>
          </p:cNvSpPr>
          <p:nvPr>
            <p:ph idx="1"/>
          </p:nvPr>
        </p:nvSpPr>
        <p:spPr>
          <a:xfrm>
            <a:off x="7865805" y="2121408"/>
            <a:ext cx="3677263" cy="4092579"/>
          </a:xfrm>
        </p:spPr>
        <p:txBody>
          <a:bodyPr>
            <a:normAutofit fontScale="92500"/>
          </a:bodyPr>
          <a:lstStyle/>
          <a:p>
            <a:r>
              <a:rPr lang="en-GB" sz="1800" b="1" dirty="0"/>
              <a:t>Dataset:</a:t>
            </a:r>
            <a:r>
              <a:rPr lang="en-GB" sz="1800" dirty="0"/>
              <a:t> COBRE  pre-processed dataset with 146 subjects (72 schizophrenia, 74 healthy controls) from figshare.com</a:t>
            </a:r>
          </a:p>
          <a:p>
            <a:r>
              <a:rPr lang="en-GB" sz="1800" dirty="0"/>
              <a:t>Preprocessing (Normalization, Motion Correction, Scrubbing).</a:t>
            </a:r>
          </a:p>
          <a:p>
            <a:r>
              <a:rPr lang="en-GB" sz="1800" dirty="0"/>
              <a:t>Region of Interest (ROI) Extraction using AAL Atlas.</a:t>
            </a:r>
          </a:p>
          <a:p>
            <a:r>
              <a:rPr lang="en-GB" sz="1800" dirty="0"/>
              <a:t>Generate Connectivity Matrices (Pearson Correlation).</a:t>
            </a:r>
          </a:p>
          <a:p>
            <a:r>
              <a:rPr lang="en-GB" sz="1800" dirty="0"/>
              <a:t>Model training using 2D CNN-LSTM architecture.</a:t>
            </a:r>
          </a:p>
          <a:p>
            <a:r>
              <a:rPr lang="en-GB" sz="1800" dirty="0"/>
              <a:t>Saliency Maps and Visualizations</a:t>
            </a:r>
          </a:p>
        </p:txBody>
      </p:sp>
    </p:spTree>
    <p:extLst>
      <p:ext uri="{BB962C8B-B14F-4D97-AF65-F5344CB8AC3E}">
        <p14:creationId xmlns:p14="http://schemas.microsoft.com/office/powerpoint/2010/main" val="2100374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37D4D-79E2-70EB-B4F8-91FD00552E49}"/>
              </a:ext>
            </a:extLst>
          </p:cNvPr>
          <p:cNvSpPr>
            <a:spLocks noGrp="1"/>
          </p:cNvSpPr>
          <p:nvPr>
            <p:ph type="title"/>
          </p:nvPr>
        </p:nvSpPr>
        <p:spPr/>
        <p:txBody>
          <a:bodyPr>
            <a:normAutofit/>
          </a:bodyPr>
          <a:lstStyle/>
          <a:p>
            <a:r>
              <a:rPr lang="en-GB" sz="4400" dirty="0"/>
              <a:t>Model Design</a:t>
            </a:r>
          </a:p>
        </p:txBody>
      </p:sp>
      <p:pic>
        <p:nvPicPr>
          <p:cNvPr id="4" name="Content Placeholder 3">
            <a:extLst>
              <a:ext uri="{FF2B5EF4-FFF2-40B4-BE49-F238E27FC236}">
                <a16:creationId xmlns:a16="http://schemas.microsoft.com/office/drawing/2014/main" id="{3161F89D-57CF-F3F8-FFFC-B39E5640FCC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98720" y="904240"/>
            <a:ext cx="6756399" cy="5233801"/>
          </a:xfrm>
          <a:prstGeom prst="rect">
            <a:avLst/>
          </a:prstGeom>
        </p:spPr>
      </p:pic>
      <p:sp>
        <p:nvSpPr>
          <p:cNvPr id="5" name="TextBox 4">
            <a:extLst>
              <a:ext uri="{FF2B5EF4-FFF2-40B4-BE49-F238E27FC236}">
                <a16:creationId xmlns:a16="http://schemas.microsoft.com/office/drawing/2014/main" id="{A09E95A9-B9E5-F58F-541E-A12DC006AE63}"/>
              </a:ext>
            </a:extLst>
          </p:cNvPr>
          <p:cNvSpPr txBox="1"/>
          <p:nvPr/>
        </p:nvSpPr>
        <p:spPr>
          <a:xfrm>
            <a:off x="601192" y="2093976"/>
            <a:ext cx="3846786" cy="373012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B" sz="2000" dirty="0"/>
              <a:t>CNN extracts spatial features from connectivity matrices.</a:t>
            </a:r>
          </a:p>
          <a:p>
            <a:pPr marL="285750" indent="-285750">
              <a:lnSpc>
                <a:spcPct val="150000"/>
              </a:lnSpc>
              <a:buFont typeface="Arial" panose="020B0604020202020204" pitchFamily="34" charset="0"/>
              <a:buChar char="•"/>
            </a:pPr>
            <a:r>
              <a:rPr lang="en-GB" sz="2000" dirty="0"/>
              <a:t>LSTM captures temporal dependencies between brain regions.</a:t>
            </a:r>
          </a:p>
          <a:p>
            <a:pPr marL="285750" indent="-285750">
              <a:lnSpc>
                <a:spcPct val="150000"/>
              </a:lnSpc>
              <a:buFont typeface="Arial" panose="020B0604020202020204" pitchFamily="34" charset="0"/>
              <a:buChar char="•"/>
            </a:pPr>
            <a:r>
              <a:rPr lang="en-GB" sz="2000" dirty="0"/>
              <a:t>Fully connected layers for final classification (Schizophrenia vs. Healthy).</a:t>
            </a:r>
          </a:p>
        </p:txBody>
      </p:sp>
    </p:spTree>
    <p:extLst>
      <p:ext uri="{BB962C8B-B14F-4D97-AF65-F5344CB8AC3E}">
        <p14:creationId xmlns:p14="http://schemas.microsoft.com/office/powerpoint/2010/main" val="1636198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56" name="Rectangle 5155">
            <a:extLst>
              <a:ext uri="{FF2B5EF4-FFF2-40B4-BE49-F238E27FC236}">
                <a16:creationId xmlns:a16="http://schemas.microsoft.com/office/drawing/2014/main" id="{D2F9B8D9-2A0F-48A2-AD9F-81D8C49703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1672" y="0"/>
            <a:ext cx="7540328"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5B5376-6F76-22A8-E08A-52CE3A28808C}"/>
              </a:ext>
            </a:extLst>
          </p:cNvPr>
          <p:cNvSpPr>
            <a:spLocks noGrp="1"/>
          </p:cNvSpPr>
          <p:nvPr>
            <p:ph type="title"/>
          </p:nvPr>
        </p:nvSpPr>
        <p:spPr>
          <a:xfrm>
            <a:off x="4970109" y="484632"/>
            <a:ext cx="6730277" cy="1609344"/>
          </a:xfrm>
          <a:ln>
            <a:noFill/>
          </a:ln>
        </p:spPr>
        <p:txBody>
          <a:bodyPr>
            <a:normAutofit/>
          </a:bodyPr>
          <a:lstStyle/>
          <a:p>
            <a:r>
              <a:rPr lang="en-GB" sz="4400"/>
              <a:t>Model Training</a:t>
            </a:r>
          </a:p>
        </p:txBody>
      </p:sp>
      <p:pic>
        <p:nvPicPr>
          <p:cNvPr id="5125" name="Picture 5" descr="Overfitting in Machine Learning and Computer Vision">
            <a:extLst>
              <a:ext uri="{FF2B5EF4-FFF2-40B4-BE49-F238E27FC236}">
                <a16:creationId xmlns:a16="http://schemas.microsoft.com/office/drawing/2014/main" id="{AD7D472D-FA38-E6EF-6AE3-CC8616405700}"/>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33999" y="1926680"/>
            <a:ext cx="3722101" cy="3014901"/>
          </a:xfrm>
          <a:prstGeom prst="rect">
            <a:avLst/>
          </a:prstGeom>
          <a:noFill/>
          <a:extLst>
            <a:ext uri="{909E8E84-426E-40DD-AFC4-6F175D3DCCD1}">
              <a14:hiddenFill xmlns:a14="http://schemas.microsoft.com/office/drawing/2010/main">
                <a:solidFill>
                  <a:srgbClr val="FFFFFF"/>
                </a:solidFill>
              </a14:hiddenFill>
            </a:ext>
          </a:extLst>
        </p:spPr>
      </p:pic>
      <p:sp>
        <p:nvSpPr>
          <p:cNvPr id="5129" name="Content Placeholder 5128">
            <a:extLst>
              <a:ext uri="{FF2B5EF4-FFF2-40B4-BE49-F238E27FC236}">
                <a16:creationId xmlns:a16="http://schemas.microsoft.com/office/drawing/2014/main" id="{D6CDB4A5-D92C-9242-C6D9-EF8241D1B4CA}"/>
              </a:ext>
            </a:extLst>
          </p:cNvPr>
          <p:cNvSpPr>
            <a:spLocks noGrp="1"/>
          </p:cNvSpPr>
          <p:nvPr>
            <p:ph idx="1"/>
          </p:nvPr>
        </p:nvSpPr>
        <p:spPr>
          <a:xfrm>
            <a:off x="4970108" y="2121408"/>
            <a:ext cx="6998371" cy="4050792"/>
          </a:xfrm>
        </p:spPr>
        <p:txBody>
          <a:bodyPr>
            <a:normAutofit/>
          </a:bodyPr>
          <a:lstStyle/>
          <a:p>
            <a:pPr marL="0" indent="0">
              <a:buNone/>
            </a:pPr>
            <a:r>
              <a:rPr lang="en-US" dirty="0"/>
              <a:t>To reduce overfitting regularization techniques were implemented:</a:t>
            </a:r>
          </a:p>
          <a:p>
            <a:pPr marL="342900" indent="-342900">
              <a:buAutoNum type="arabicPeriod"/>
            </a:pPr>
            <a:r>
              <a:rPr lang="en-US" dirty="0"/>
              <a:t>Early Stopping with patience level of 5</a:t>
            </a:r>
          </a:p>
          <a:p>
            <a:pPr marL="342900" indent="-342900">
              <a:buAutoNum type="arabicPeriod"/>
            </a:pPr>
            <a:r>
              <a:rPr lang="en-US" dirty="0" err="1"/>
              <a:t>ReduceLROnPlateau</a:t>
            </a:r>
            <a:r>
              <a:rPr lang="en-US" dirty="0"/>
              <a:t> with factor 0.1 also at patience 5.</a:t>
            </a:r>
          </a:p>
          <a:p>
            <a:pPr marL="342900" indent="-342900">
              <a:buAutoNum type="arabicPeriod"/>
            </a:pPr>
            <a:r>
              <a:rPr lang="en-US" dirty="0"/>
              <a:t>Optimizer: Adam</a:t>
            </a:r>
          </a:p>
          <a:p>
            <a:pPr marL="342900" indent="-342900">
              <a:buAutoNum type="arabicPeriod"/>
            </a:pPr>
            <a:r>
              <a:rPr lang="en-US" dirty="0"/>
              <a:t>Loss Function: Binary Cross Entropy</a:t>
            </a:r>
          </a:p>
          <a:p>
            <a:pPr marL="342900" indent="-342900">
              <a:buAutoNum type="arabicPeriod"/>
            </a:pPr>
            <a:endParaRPr lang="en-US" dirty="0"/>
          </a:p>
        </p:txBody>
      </p:sp>
      <p:grpSp>
        <p:nvGrpSpPr>
          <p:cNvPr id="5157" name="Group 5156">
            <a:extLst>
              <a:ext uri="{FF2B5EF4-FFF2-40B4-BE49-F238E27FC236}">
                <a16:creationId xmlns:a16="http://schemas.microsoft.com/office/drawing/2014/main" id="{0F7E20FF-7DA6-46B7-AB0E-E6CBFDD0729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5158" name="Oval 5157">
              <a:extLst>
                <a:ext uri="{FF2B5EF4-FFF2-40B4-BE49-F238E27FC236}">
                  <a16:creationId xmlns:a16="http://schemas.microsoft.com/office/drawing/2014/main" id="{6BE624B6-B9F4-4C3F-9F6E-2182D90EC5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5159" name="Oval 5158">
              <a:extLst>
                <a:ext uri="{FF2B5EF4-FFF2-40B4-BE49-F238E27FC236}">
                  <a16:creationId xmlns:a16="http://schemas.microsoft.com/office/drawing/2014/main" id="{8710C23B-B5E1-45A6-80F6-55643AC62B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3616432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tint val="75000"/>
                <a:shade val="58000"/>
                <a:satMod val="120000"/>
              </a:schemeClr>
              <a:schemeClr val="bg1">
                <a:tint val="50000"/>
                <a:shade val="96000"/>
              </a:schemeClr>
            </a:duotone>
          </a:blip>
          <a:tile tx="0" ty="0" sx="100000" sy="100000" flip="none" algn="tl"/>
        </a:blipFill>
        <a:effectLst/>
      </p:bgPr>
    </p:bg>
    <p:spTree>
      <p:nvGrpSpPr>
        <p:cNvPr id="1" name=""/>
        <p:cNvGrpSpPr/>
        <p:nvPr/>
      </p:nvGrpSpPr>
      <p:grpSpPr>
        <a:xfrm>
          <a:off x="0" y="0"/>
          <a:ext cx="0" cy="0"/>
          <a:chOff x="0" y="0"/>
          <a:chExt cx="0" cy="0"/>
        </a:xfrm>
      </p:grpSpPr>
      <p:sp useBgFill="1">
        <p:nvSpPr>
          <p:cNvPr id="90" name="Rectangle 89">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4BC819-5DA4-CB76-5462-C41EFD31CEFB}"/>
              </a:ext>
            </a:extLst>
          </p:cNvPr>
          <p:cNvSpPr>
            <a:spLocks noGrp="1"/>
          </p:cNvSpPr>
          <p:nvPr>
            <p:ph type="title"/>
          </p:nvPr>
        </p:nvSpPr>
        <p:spPr>
          <a:xfrm>
            <a:off x="6386284" y="484632"/>
            <a:ext cx="4741963" cy="1971964"/>
          </a:xfrm>
        </p:spPr>
        <p:txBody>
          <a:bodyPr>
            <a:normAutofit/>
          </a:bodyPr>
          <a:lstStyle/>
          <a:p>
            <a:r>
              <a:rPr lang="en-GB" sz="4800">
                <a:solidFill>
                  <a:schemeClr val="tx1"/>
                </a:solidFill>
              </a:rPr>
              <a:t>Model Performance</a:t>
            </a:r>
          </a:p>
        </p:txBody>
      </p:sp>
      <p:sp>
        <p:nvSpPr>
          <p:cNvPr id="91" name="Freeform: Shape 90">
            <a:extLst>
              <a:ext uri="{FF2B5EF4-FFF2-40B4-BE49-F238E27FC236}">
                <a16:creationId xmlns:a16="http://schemas.microsoft.com/office/drawing/2014/main" id="{E5821A2D-F010-4C2B-8819-23281D9C77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3"/>
            <a:ext cx="6095695" cy="6857997"/>
          </a:xfrm>
          <a:custGeom>
            <a:avLst/>
            <a:gdLst>
              <a:gd name="connsiteX0" fmla="*/ 3435036 w 6095695"/>
              <a:gd name="connsiteY0" fmla="*/ 0 h 6857997"/>
              <a:gd name="connsiteX1" fmla="*/ 4198562 w 6095695"/>
              <a:gd name="connsiteY1" fmla="*/ 0 h 6857997"/>
              <a:gd name="connsiteX2" fmla="*/ 4365987 w 6095695"/>
              <a:gd name="connsiteY2" fmla="*/ 128761 h 6857997"/>
              <a:gd name="connsiteX3" fmla="*/ 6095695 w 6095695"/>
              <a:gd name="connsiteY3" fmla="*/ 3718209 h 6857997"/>
              <a:gd name="connsiteX4" fmla="*/ 4860911 w 6095695"/>
              <a:gd name="connsiteY4" fmla="*/ 6845880 h 6857997"/>
              <a:gd name="connsiteX5" fmla="*/ 4849107 w 6095695"/>
              <a:gd name="connsiteY5" fmla="*/ 6857997 h 6857997"/>
              <a:gd name="connsiteX6" fmla="*/ 4253869 w 6095695"/>
              <a:gd name="connsiteY6" fmla="*/ 6857997 h 6857997"/>
              <a:gd name="connsiteX7" fmla="*/ 4409441 w 6095695"/>
              <a:gd name="connsiteY7" fmla="*/ 6719623 h 6857997"/>
              <a:gd name="connsiteX8" fmla="*/ 5679794 w 6095695"/>
              <a:gd name="connsiteY8" fmla="*/ 3718209 h 6857997"/>
              <a:gd name="connsiteX9" fmla="*/ 3591563 w 6095695"/>
              <a:gd name="connsiteY9" fmla="*/ 88079 h 6857997"/>
              <a:gd name="connsiteX10" fmla="*/ 0 w 6095695"/>
              <a:gd name="connsiteY10" fmla="*/ 0 h 6857997"/>
              <a:gd name="connsiteX11" fmla="*/ 3177466 w 6095695"/>
              <a:gd name="connsiteY11" fmla="*/ 0 h 6857997"/>
              <a:gd name="connsiteX12" fmla="*/ 3353291 w 6095695"/>
              <a:gd name="connsiteY12" fmla="*/ 88129 h 6857997"/>
              <a:gd name="connsiteX13" fmla="*/ 5560965 w 6095695"/>
              <a:gd name="connsiteY13" fmla="*/ 3718209 h 6857997"/>
              <a:gd name="connsiteX14" fmla="*/ 4325417 w 6095695"/>
              <a:gd name="connsiteY14" fmla="*/ 6637392 h 6857997"/>
              <a:gd name="connsiteX15" fmla="*/ 4077394 w 6095695"/>
              <a:gd name="connsiteY15" fmla="*/ 6857997 h 6857997"/>
              <a:gd name="connsiteX16" fmla="*/ 0 w 6095695"/>
              <a:gd name="connsiteY16" fmla="*/ 6857997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5695" h="6857997">
                <a:moveTo>
                  <a:pt x="3435036" y="0"/>
                </a:moveTo>
                <a:lnTo>
                  <a:pt x="4198562" y="0"/>
                </a:lnTo>
                <a:lnTo>
                  <a:pt x="4365987" y="128761"/>
                </a:lnTo>
                <a:cubicBezTo>
                  <a:pt x="5422363" y="981944"/>
                  <a:pt x="6095695" y="2273123"/>
                  <a:pt x="6095695" y="3718209"/>
                </a:cubicBezTo>
                <a:cubicBezTo>
                  <a:pt x="6095695" y="4922447"/>
                  <a:pt x="5628104" y="6019805"/>
                  <a:pt x="4860911" y="6845880"/>
                </a:cubicBezTo>
                <a:lnTo>
                  <a:pt x="4849107" y="6857997"/>
                </a:lnTo>
                <a:lnTo>
                  <a:pt x="4253869" y="6857997"/>
                </a:lnTo>
                <a:lnTo>
                  <a:pt x="4409441" y="6719623"/>
                </a:lnTo>
                <a:cubicBezTo>
                  <a:pt x="5194330" y="5951494"/>
                  <a:pt x="5679794" y="4890334"/>
                  <a:pt x="5679794" y="3718209"/>
                </a:cubicBezTo>
                <a:cubicBezTo>
                  <a:pt x="5679794" y="2179795"/>
                  <a:pt x="4843506" y="832535"/>
                  <a:pt x="3591563" y="88079"/>
                </a:cubicBezTo>
                <a:close/>
                <a:moveTo>
                  <a:pt x="0" y="0"/>
                </a:moveTo>
                <a:lnTo>
                  <a:pt x="3177466" y="0"/>
                </a:lnTo>
                <a:lnTo>
                  <a:pt x="3353291" y="88129"/>
                </a:lnTo>
                <a:cubicBezTo>
                  <a:pt x="4668281" y="787221"/>
                  <a:pt x="5560965" y="2150692"/>
                  <a:pt x="5560965" y="3718209"/>
                </a:cubicBezTo>
                <a:cubicBezTo>
                  <a:pt x="5560965" y="4858221"/>
                  <a:pt x="5088802" y="5890308"/>
                  <a:pt x="4325417" y="6637392"/>
                </a:cubicBezTo>
                <a:lnTo>
                  <a:pt x="4077394" y="6857997"/>
                </a:lnTo>
                <a:lnTo>
                  <a:pt x="0" y="6857997"/>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7" name="Picture 46" descr="A screenshot of a computer code&#10;&#10;Description automatically generated">
            <a:extLst>
              <a:ext uri="{FF2B5EF4-FFF2-40B4-BE49-F238E27FC236}">
                <a16:creationId xmlns:a16="http://schemas.microsoft.com/office/drawing/2014/main" id="{71B82BBE-87D6-B867-7A71-80D68CCB67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470" y="1794641"/>
            <a:ext cx="4736577" cy="3268717"/>
          </a:xfrm>
          <a:prstGeom prst="rect">
            <a:avLst/>
          </a:prstGeom>
        </p:spPr>
      </p:pic>
      <p:sp>
        <p:nvSpPr>
          <p:cNvPr id="3" name="Content Placeholder 2">
            <a:extLst>
              <a:ext uri="{FF2B5EF4-FFF2-40B4-BE49-F238E27FC236}">
                <a16:creationId xmlns:a16="http://schemas.microsoft.com/office/drawing/2014/main" id="{C76D3791-97C2-36C5-4B58-094E245F055C}"/>
              </a:ext>
            </a:extLst>
          </p:cNvPr>
          <p:cNvSpPr>
            <a:spLocks noGrp="1"/>
          </p:cNvSpPr>
          <p:nvPr>
            <p:ph idx="1"/>
          </p:nvPr>
        </p:nvSpPr>
        <p:spPr>
          <a:xfrm>
            <a:off x="6386286" y="2456596"/>
            <a:ext cx="4741962" cy="3715603"/>
          </a:xfrm>
        </p:spPr>
        <p:txBody>
          <a:bodyPr>
            <a:normAutofit/>
          </a:bodyPr>
          <a:lstStyle/>
          <a:p>
            <a:r>
              <a:rPr lang="en-GB" b="1"/>
              <a:t>Accuracy:</a:t>
            </a:r>
            <a:r>
              <a:rPr lang="en-GB"/>
              <a:t> 87.5%</a:t>
            </a:r>
          </a:p>
          <a:p>
            <a:r>
              <a:rPr lang="en-GB" b="1"/>
              <a:t>Precision:</a:t>
            </a:r>
            <a:r>
              <a:rPr lang="en-GB"/>
              <a:t> 71% for healthy controls, 100% for schizophrenia.</a:t>
            </a:r>
          </a:p>
          <a:p>
            <a:r>
              <a:rPr lang="en-GB" b="1"/>
              <a:t>Recall:</a:t>
            </a:r>
            <a:r>
              <a:rPr lang="en-GB"/>
              <a:t> 100% for healthy controls, 82% for schizophrenia.</a:t>
            </a:r>
          </a:p>
          <a:p>
            <a:r>
              <a:rPr lang="en-GB" b="1"/>
              <a:t>F1 Score</a:t>
            </a:r>
            <a:r>
              <a:rPr lang="en-GB"/>
              <a:t>: 0.83 for healthy and 0.90 for schizophrenia</a:t>
            </a:r>
          </a:p>
          <a:p>
            <a:r>
              <a:rPr lang="en-GB" b="1"/>
              <a:t>AUC-ROC:</a:t>
            </a:r>
            <a:r>
              <a:rPr lang="en-GB"/>
              <a:t> 0.9818 (Excellent classification across thresholds).</a:t>
            </a:r>
          </a:p>
          <a:p>
            <a:pPr marL="0" indent="0">
              <a:buNone/>
            </a:pPr>
            <a:endParaRPr lang="en-GB"/>
          </a:p>
          <a:p>
            <a:pPr marL="0" indent="0">
              <a:buNone/>
            </a:pPr>
            <a:endParaRPr lang="en-GB"/>
          </a:p>
        </p:txBody>
      </p:sp>
      <p:grpSp>
        <p:nvGrpSpPr>
          <p:cNvPr id="101" name="Group 100">
            <a:extLst>
              <a:ext uri="{FF2B5EF4-FFF2-40B4-BE49-F238E27FC236}">
                <a16:creationId xmlns:a16="http://schemas.microsoft.com/office/drawing/2014/main" id="{D68B9961-F007-40D1-AF51-61B6DE5106C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97" name="Oval 96">
              <a:extLst>
                <a:ext uri="{FF2B5EF4-FFF2-40B4-BE49-F238E27FC236}">
                  <a16:creationId xmlns:a16="http://schemas.microsoft.com/office/drawing/2014/main" id="{E9FDF494-C7FB-47DF-BD39-1F65FA5508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GB"/>
            </a:p>
          </p:txBody>
        </p:sp>
        <p:sp>
          <p:nvSpPr>
            <p:cNvPr id="98" name="Oval 97">
              <a:extLst>
                <a:ext uri="{FF2B5EF4-FFF2-40B4-BE49-F238E27FC236}">
                  <a16:creationId xmlns:a16="http://schemas.microsoft.com/office/drawing/2014/main" id="{3A822E1C-4C1A-4BEE-B19C-0FFB2D57BB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GB"/>
            </a:p>
          </p:txBody>
        </p:sp>
      </p:grpSp>
    </p:spTree>
    <p:extLst>
      <p:ext uri="{BB962C8B-B14F-4D97-AF65-F5344CB8AC3E}">
        <p14:creationId xmlns:p14="http://schemas.microsoft.com/office/powerpoint/2010/main" val="3658145860"/>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1B0E2-B21F-C000-BD1B-28A8EDADF36A}"/>
              </a:ext>
            </a:extLst>
          </p:cNvPr>
          <p:cNvSpPr>
            <a:spLocks noGrp="1"/>
          </p:cNvSpPr>
          <p:nvPr>
            <p:ph type="title"/>
          </p:nvPr>
        </p:nvSpPr>
        <p:spPr>
          <a:xfrm>
            <a:off x="6888481" y="157988"/>
            <a:ext cx="4886959" cy="1609344"/>
          </a:xfrm>
        </p:spPr>
        <p:txBody>
          <a:bodyPr>
            <a:normAutofit/>
          </a:bodyPr>
          <a:lstStyle/>
          <a:p>
            <a:r>
              <a:rPr lang="en-GB" sz="4000" dirty="0"/>
              <a:t>Confusion Matrix and </a:t>
            </a:r>
            <a:br>
              <a:rPr lang="en-GB" sz="4000" dirty="0"/>
            </a:br>
            <a:r>
              <a:rPr lang="en-GB" sz="4000" dirty="0" err="1"/>
              <a:t>auc</a:t>
            </a:r>
            <a:r>
              <a:rPr lang="en-GB" sz="4000" dirty="0"/>
              <a:t>-roc curve</a:t>
            </a:r>
          </a:p>
        </p:txBody>
      </p:sp>
      <p:pic>
        <p:nvPicPr>
          <p:cNvPr id="5" name="Picture 4" descr="A diagram of confusion matrix&#10;&#10;Description automatically generated">
            <a:extLst>
              <a:ext uri="{FF2B5EF4-FFF2-40B4-BE49-F238E27FC236}">
                <a16:creationId xmlns:a16="http://schemas.microsoft.com/office/drawing/2014/main" id="{C4570925-7292-030F-D626-A61017315CF8}"/>
              </a:ext>
            </a:extLst>
          </p:cNvPr>
          <p:cNvPicPr>
            <a:picLocks noChangeAspect="1"/>
          </p:cNvPicPr>
          <p:nvPr/>
        </p:nvPicPr>
        <p:blipFill>
          <a:blip r:embed="rId2"/>
          <a:srcRect t="6174" r="1" b="1"/>
          <a:stretch/>
        </p:blipFill>
        <p:spPr>
          <a:xfrm>
            <a:off x="6888481" y="1767332"/>
            <a:ext cx="5151119" cy="4932680"/>
          </a:xfrm>
          <a:prstGeom prst="rect">
            <a:avLst/>
          </a:prstGeom>
        </p:spPr>
      </p:pic>
      <p:pic>
        <p:nvPicPr>
          <p:cNvPr id="6" name="Picture 5" descr="A graph with a line and a blue line&#10;&#10;Description automatically generated">
            <a:extLst>
              <a:ext uri="{FF2B5EF4-FFF2-40B4-BE49-F238E27FC236}">
                <a16:creationId xmlns:a16="http://schemas.microsoft.com/office/drawing/2014/main" id="{05D998CF-9B4F-637C-D251-DF709FA8F8F9}"/>
              </a:ext>
            </a:extLst>
          </p:cNvPr>
          <p:cNvPicPr>
            <a:picLocks noChangeAspect="1"/>
          </p:cNvPicPr>
          <p:nvPr/>
        </p:nvPicPr>
        <p:blipFill>
          <a:blip r:embed="rId3">
            <a:extLst>
              <a:ext uri="{28A0092B-C50C-407E-A947-70E740481C1C}">
                <a14:useLocalDpi xmlns:a14="http://schemas.microsoft.com/office/drawing/2010/main" val="0"/>
              </a:ext>
            </a:extLst>
          </a:blip>
          <a:srcRect t="26" r="1" b="5558"/>
          <a:stretch/>
        </p:blipFill>
        <p:spPr>
          <a:xfrm>
            <a:off x="1052459" y="541890"/>
            <a:ext cx="5043541" cy="3708399"/>
          </a:xfrm>
          <a:prstGeom prst="rect">
            <a:avLst/>
          </a:prstGeom>
        </p:spPr>
      </p:pic>
      <p:sp>
        <p:nvSpPr>
          <p:cNvPr id="17" name="Content Placeholder 7">
            <a:extLst>
              <a:ext uri="{FF2B5EF4-FFF2-40B4-BE49-F238E27FC236}">
                <a16:creationId xmlns:a16="http://schemas.microsoft.com/office/drawing/2014/main" id="{E7B366BE-B40A-6986-8852-7D311AFF93AA}"/>
              </a:ext>
            </a:extLst>
          </p:cNvPr>
          <p:cNvSpPr>
            <a:spLocks noGrp="1"/>
          </p:cNvSpPr>
          <p:nvPr>
            <p:ph idx="1"/>
          </p:nvPr>
        </p:nvSpPr>
        <p:spPr>
          <a:xfrm>
            <a:off x="821377" y="4582159"/>
            <a:ext cx="6607276" cy="1785983"/>
          </a:xfrm>
        </p:spPr>
        <p:txBody>
          <a:bodyPr>
            <a:normAutofit/>
          </a:bodyPr>
          <a:lstStyle/>
          <a:p>
            <a:r>
              <a:rPr lang="en-GB" sz="1600" b="1" dirty="0"/>
              <a:t>No healthy individuals</a:t>
            </a:r>
            <a:r>
              <a:rPr lang="en-GB" sz="1600" dirty="0"/>
              <a:t> were misclassified as having schizophrenia (0 False Negatives).</a:t>
            </a:r>
          </a:p>
          <a:p>
            <a:r>
              <a:rPr lang="en-GB" sz="1600" dirty="0"/>
              <a:t>The model incorrectly classified </a:t>
            </a:r>
            <a:r>
              <a:rPr lang="en-GB" sz="1600" b="1" dirty="0"/>
              <a:t>2 schizophrenia patients</a:t>
            </a:r>
            <a:r>
              <a:rPr lang="en-GB" sz="1600" dirty="0"/>
              <a:t> as healthy (False Positives).</a:t>
            </a:r>
          </a:p>
          <a:p>
            <a:r>
              <a:rPr lang="en-US" sz="1600" dirty="0"/>
              <a:t>The closeness to 1.0 indicates the model was excellent in identifying and predicting SZ vs HC.</a:t>
            </a:r>
          </a:p>
        </p:txBody>
      </p:sp>
    </p:spTree>
    <p:extLst>
      <p:ext uri="{BB962C8B-B14F-4D97-AF65-F5344CB8AC3E}">
        <p14:creationId xmlns:p14="http://schemas.microsoft.com/office/powerpoint/2010/main" val="3924284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AF35CD-DA30-4E34-B0F3-32C27766DA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6310" y="0"/>
            <a:ext cx="435568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52BF54-9F4E-0567-EE70-234FA43858ED}"/>
              </a:ext>
            </a:extLst>
          </p:cNvPr>
          <p:cNvSpPr>
            <a:spLocks noGrp="1"/>
          </p:cNvSpPr>
          <p:nvPr>
            <p:ph type="title"/>
          </p:nvPr>
        </p:nvSpPr>
        <p:spPr>
          <a:xfrm>
            <a:off x="8156350" y="484632"/>
            <a:ext cx="3544035" cy="1609344"/>
          </a:xfrm>
          <a:ln>
            <a:noFill/>
          </a:ln>
        </p:spPr>
        <p:txBody>
          <a:bodyPr>
            <a:normAutofit/>
          </a:bodyPr>
          <a:lstStyle/>
          <a:p>
            <a:r>
              <a:rPr lang="en-GB" sz="3200"/>
              <a:t>Saliency Maps for Interpretability</a:t>
            </a:r>
          </a:p>
        </p:txBody>
      </p:sp>
      <p:pic>
        <p:nvPicPr>
          <p:cNvPr id="6" name="Picture 5">
            <a:extLst>
              <a:ext uri="{FF2B5EF4-FFF2-40B4-BE49-F238E27FC236}">
                <a16:creationId xmlns:a16="http://schemas.microsoft.com/office/drawing/2014/main" id="{A9B43F9A-1AA2-3F38-09C7-B62F55683D8A}"/>
              </a:ext>
            </a:extLst>
          </p:cNvPr>
          <p:cNvPicPr>
            <a:picLocks noChangeAspect="1"/>
          </p:cNvPicPr>
          <p:nvPr/>
        </p:nvPicPr>
        <p:blipFill>
          <a:blip r:embed="rId4"/>
          <a:stretch>
            <a:fillRect/>
          </a:stretch>
        </p:blipFill>
        <p:spPr>
          <a:xfrm>
            <a:off x="601653" y="484632"/>
            <a:ext cx="3269040" cy="5588101"/>
          </a:xfrm>
          <a:prstGeom prst="rect">
            <a:avLst/>
          </a:prstGeom>
        </p:spPr>
      </p:pic>
      <p:sp>
        <p:nvSpPr>
          <p:cNvPr id="8" name="Content Placeholder 7">
            <a:extLst>
              <a:ext uri="{FF2B5EF4-FFF2-40B4-BE49-F238E27FC236}">
                <a16:creationId xmlns:a16="http://schemas.microsoft.com/office/drawing/2014/main" id="{B9E2AC28-A508-91F1-9BD2-DF30E62508D9}"/>
              </a:ext>
            </a:extLst>
          </p:cNvPr>
          <p:cNvSpPr>
            <a:spLocks noGrp="1"/>
          </p:cNvSpPr>
          <p:nvPr>
            <p:ph idx="1"/>
          </p:nvPr>
        </p:nvSpPr>
        <p:spPr>
          <a:xfrm>
            <a:off x="8156351" y="2121408"/>
            <a:ext cx="3544034" cy="4050792"/>
          </a:xfrm>
        </p:spPr>
        <p:txBody>
          <a:bodyPr>
            <a:normAutofit/>
          </a:bodyPr>
          <a:lstStyle/>
          <a:p>
            <a:r>
              <a:rPr lang="en-GB" sz="1600" dirty="0"/>
              <a:t>Saliency Maps: Highlight key brain regions contributing to classification.</a:t>
            </a:r>
          </a:p>
          <a:p>
            <a:r>
              <a:rPr lang="en-GB" sz="1600" dirty="0"/>
              <a:t>Helps interpret model decisions by identifying the most affected regions in schizophrenia.</a:t>
            </a:r>
            <a:endParaRPr lang="en-US" sz="1600" dirty="0"/>
          </a:p>
        </p:txBody>
      </p:sp>
      <p:grpSp>
        <p:nvGrpSpPr>
          <p:cNvPr id="12" name="Group 11">
            <a:extLst>
              <a:ext uri="{FF2B5EF4-FFF2-40B4-BE49-F238E27FC236}">
                <a16:creationId xmlns:a16="http://schemas.microsoft.com/office/drawing/2014/main" id="{BCFC42DC-2C46-47C4-BC61-530557385D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6" name="Oval 15">
              <a:extLst>
                <a:ext uri="{FF2B5EF4-FFF2-40B4-BE49-F238E27FC236}">
                  <a16:creationId xmlns:a16="http://schemas.microsoft.com/office/drawing/2014/main" id="{54B91A37-AA1F-4966-8ACF-93023547D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7" name="Oval 16">
              <a:extLst>
                <a:ext uri="{FF2B5EF4-FFF2-40B4-BE49-F238E27FC236}">
                  <a16:creationId xmlns:a16="http://schemas.microsoft.com/office/drawing/2014/main" id="{17B17AC5-0931-432F-9A4A-DDCFAA010A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pic>
        <p:nvPicPr>
          <p:cNvPr id="9" name="Picture 8" descr="A diagram of the brain&#10;&#10;Description automatically generated">
            <a:extLst>
              <a:ext uri="{FF2B5EF4-FFF2-40B4-BE49-F238E27FC236}">
                <a16:creationId xmlns:a16="http://schemas.microsoft.com/office/drawing/2014/main" id="{8328D3C8-367B-A6A1-98AA-F646A3CB440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70693" y="1289304"/>
            <a:ext cx="3962718" cy="3787140"/>
          </a:xfrm>
          <a:prstGeom prst="rect">
            <a:avLst/>
          </a:prstGeom>
        </p:spPr>
      </p:pic>
    </p:spTree>
    <p:extLst>
      <p:ext uri="{BB962C8B-B14F-4D97-AF65-F5344CB8AC3E}">
        <p14:creationId xmlns:p14="http://schemas.microsoft.com/office/powerpoint/2010/main" val="2535416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3" name="Rectangle 12">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5" name="Rectangle 14">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FC840345-0659-5885-824E-26BB3B68CDED}"/>
              </a:ext>
            </a:extLst>
          </p:cNvPr>
          <p:cNvSpPr>
            <a:spLocks noGrp="1"/>
          </p:cNvSpPr>
          <p:nvPr>
            <p:ph type="title"/>
          </p:nvPr>
        </p:nvSpPr>
        <p:spPr>
          <a:xfrm>
            <a:off x="1069848" y="484632"/>
            <a:ext cx="10058400" cy="1609344"/>
          </a:xfrm>
        </p:spPr>
        <p:txBody>
          <a:bodyPr>
            <a:normAutofit/>
          </a:bodyPr>
          <a:lstStyle/>
          <a:p>
            <a:r>
              <a:rPr lang="en-GB" dirty="0"/>
              <a:t>Saliency map as validation</a:t>
            </a:r>
          </a:p>
        </p:txBody>
      </p:sp>
      <p:pic>
        <p:nvPicPr>
          <p:cNvPr id="4" name="Picture 3">
            <a:extLst>
              <a:ext uri="{FF2B5EF4-FFF2-40B4-BE49-F238E27FC236}">
                <a16:creationId xmlns:a16="http://schemas.microsoft.com/office/drawing/2014/main" id="{F13FA7F9-8778-EDD7-0752-54731F41BEA7}"/>
              </a:ext>
            </a:extLst>
          </p:cNvPr>
          <p:cNvPicPr>
            <a:picLocks noChangeAspect="1"/>
          </p:cNvPicPr>
          <p:nvPr/>
        </p:nvPicPr>
        <p:blipFill>
          <a:blip r:embed="rId4">
            <a:extLst>
              <a:ext uri="{28A0092B-C50C-407E-A947-70E740481C1C}">
                <a14:useLocalDpi xmlns:a14="http://schemas.microsoft.com/office/drawing/2010/main" val="0"/>
              </a:ext>
            </a:extLst>
          </a:blip>
          <a:srcRect b="3541"/>
          <a:stretch/>
        </p:blipFill>
        <p:spPr>
          <a:xfrm>
            <a:off x="1007196" y="2265037"/>
            <a:ext cx="5088800" cy="3907158"/>
          </a:xfrm>
          <a:prstGeom prst="rect">
            <a:avLst/>
          </a:prstGeom>
        </p:spPr>
      </p:pic>
      <p:sp>
        <p:nvSpPr>
          <p:cNvPr id="3" name="Content Placeholder 2">
            <a:extLst>
              <a:ext uri="{FF2B5EF4-FFF2-40B4-BE49-F238E27FC236}">
                <a16:creationId xmlns:a16="http://schemas.microsoft.com/office/drawing/2014/main" id="{203F72BC-B31C-AF0B-52B3-DB0900CCC3F5}"/>
              </a:ext>
            </a:extLst>
          </p:cNvPr>
          <p:cNvSpPr>
            <a:spLocks noGrp="1"/>
          </p:cNvSpPr>
          <p:nvPr>
            <p:ph idx="1"/>
          </p:nvPr>
        </p:nvSpPr>
        <p:spPr>
          <a:xfrm>
            <a:off x="6496216" y="2320412"/>
            <a:ext cx="4632031" cy="3851787"/>
          </a:xfrm>
        </p:spPr>
        <p:txBody>
          <a:bodyPr anchor="ctr">
            <a:normAutofit/>
          </a:bodyPr>
          <a:lstStyle/>
          <a:p>
            <a:r>
              <a:rPr lang="en-GB" sz="1100" b="1" dirty="0"/>
              <a:t>Relevance to Previous Studies</a:t>
            </a:r>
            <a:r>
              <a:rPr lang="en-GB" sz="1100" dirty="0"/>
              <a:t>: Saliency maps highlight connections like </a:t>
            </a:r>
            <a:r>
              <a:rPr lang="en-GB" sz="1100" i="1" dirty="0" err="1"/>
              <a:t>Frontal_Inf_Oper_L</a:t>
            </a:r>
            <a:r>
              <a:rPr lang="en-GB" sz="1100" dirty="0"/>
              <a:t> to </a:t>
            </a:r>
            <a:r>
              <a:rPr lang="en-GB" sz="1100" i="1" dirty="0" err="1"/>
              <a:t>Hippocampus_R</a:t>
            </a:r>
            <a:r>
              <a:rPr lang="en-GB" sz="1100" dirty="0"/>
              <a:t> and </a:t>
            </a:r>
            <a:r>
              <a:rPr lang="en-GB" sz="1100" i="1" dirty="0" err="1"/>
              <a:t>Frontal_Inf_Tri_L</a:t>
            </a:r>
            <a:r>
              <a:rPr lang="en-GB" sz="1100" dirty="0"/>
              <a:t> to </a:t>
            </a:r>
            <a:r>
              <a:rPr lang="en-GB" sz="1100" i="1" dirty="0" err="1"/>
              <a:t>Temporal_Sup_R</a:t>
            </a:r>
            <a:r>
              <a:rPr lang="en-GB" sz="1100" dirty="0"/>
              <a:t>, confirming the role of the frontal regions and memory dysfunction in schizophrenia (Chatterjee et al., 2019).</a:t>
            </a:r>
          </a:p>
          <a:p>
            <a:r>
              <a:rPr lang="en-GB" sz="1100" b="1" dirty="0"/>
              <a:t>Memory and Emotion Processing</a:t>
            </a:r>
            <a:r>
              <a:rPr lang="en-GB" sz="1100" dirty="0"/>
              <a:t>: Connections such as </a:t>
            </a:r>
            <a:r>
              <a:rPr lang="en-GB" sz="1100" i="1" dirty="0" err="1"/>
              <a:t>Frontal_Mid_Orb_R</a:t>
            </a:r>
            <a:r>
              <a:rPr lang="en-GB" sz="1100" dirty="0"/>
              <a:t> to </a:t>
            </a:r>
            <a:r>
              <a:rPr lang="en-GB" sz="1100" i="1" dirty="0" err="1"/>
              <a:t>Amygdala_R</a:t>
            </a:r>
            <a:r>
              <a:rPr lang="en-GB" sz="1100" dirty="0"/>
              <a:t> emphasize the importance of the hippocampus and amygdala in emotional and memory processing (Kim et al., 2019).</a:t>
            </a:r>
          </a:p>
          <a:p>
            <a:r>
              <a:rPr lang="en-GB" sz="1100" b="1" dirty="0"/>
              <a:t>Auditory Processing Deficiencies</a:t>
            </a:r>
            <a:r>
              <a:rPr lang="en-GB" sz="1100" dirty="0"/>
              <a:t>: Involvement of the superior temporal gyrus and </a:t>
            </a:r>
            <a:r>
              <a:rPr lang="en-GB" sz="1100" dirty="0" err="1"/>
              <a:t>Heschl’s</a:t>
            </a:r>
            <a:r>
              <a:rPr lang="en-GB" sz="1100" dirty="0"/>
              <a:t> gyrus aligns with research on auditory processing issues and schizophrenia-related delusions (van Erp et al., 2018).</a:t>
            </a:r>
          </a:p>
          <a:p>
            <a:r>
              <a:rPr lang="en-GB" sz="1100" b="1" dirty="0"/>
              <a:t>Focus on Cognition and Emotion</a:t>
            </a:r>
            <a:r>
              <a:rPr lang="en-GB" sz="1100" dirty="0"/>
              <a:t>: Key regions in the saliency maps (frontal, parietal, and hippocampal areas) emphasize cognitive, sensory, and emotional regulation, suggesting potential for novel studies on these underexplored areas.</a:t>
            </a:r>
          </a:p>
          <a:p>
            <a:r>
              <a:rPr lang="en-GB" sz="1100" b="1" dirty="0"/>
              <a:t>Difference Maps</a:t>
            </a:r>
            <a:r>
              <a:rPr lang="en-GB" sz="1100" dirty="0"/>
              <a:t>: Highlight critical contributions of the frontal cortex, temporal lobe, and hippocampus, differentiating schizophrenia patients from healthy controls.</a:t>
            </a:r>
          </a:p>
          <a:p>
            <a:endParaRPr lang="en-GB" sz="1100" dirty="0"/>
          </a:p>
        </p:txBody>
      </p:sp>
      <p:sp>
        <p:nvSpPr>
          <p:cNvPr id="17" name="Oval 16">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9" name="Oval 18">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8203117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42642-2A1D-7A1E-C70E-7D8735C5D27E}"/>
              </a:ext>
            </a:extLst>
          </p:cNvPr>
          <p:cNvSpPr>
            <a:spLocks noGrp="1"/>
          </p:cNvSpPr>
          <p:nvPr>
            <p:ph type="title"/>
          </p:nvPr>
        </p:nvSpPr>
        <p:spPr>
          <a:xfrm>
            <a:off x="6381135" y="484632"/>
            <a:ext cx="5161935" cy="1609344"/>
          </a:xfrm>
        </p:spPr>
        <p:txBody>
          <a:bodyPr>
            <a:normAutofit/>
          </a:bodyPr>
          <a:lstStyle/>
          <a:p>
            <a:r>
              <a:rPr lang="en-GB" sz="4800"/>
              <a:t>Model Comparison</a:t>
            </a:r>
          </a:p>
        </p:txBody>
      </p:sp>
      <p:pic>
        <p:nvPicPr>
          <p:cNvPr id="11" name="Picture 10">
            <a:extLst>
              <a:ext uri="{FF2B5EF4-FFF2-40B4-BE49-F238E27FC236}">
                <a16:creationId xmlns:a16="http://schemas.microsoft.com/office/drawing/2014/main" id="{C99BDF6D-AEF0-A4EE-906C-98CC842F4F17}"/>
              </a:ext>
            </a:extLst>
          </p:cNvPr>
          <p:cNvPicPr>
            <a:picLocks noChangeAspect="1"/>
          </p:cNvPicPr>
          <p:nvPr/>
        </p:nvPicPr>
        <p:blipFill>
          <a:blip r:embed="rId2"/>
          <a:stretch>
            <a:fillRect/>
          </a:stretch>
        </p:blipFill>
        <p:spPr>
          <a:xfrm>
            <a:off x="675060" y="645106"/>
            <a:ext cx="5387890" cy="5568881"/>
          </a:xfrm>
          <a:prstGeom prst="rect">
            <a:avLst/>
          </a:prstGeom>
        </p:spPr>
      </p:pic>
      <p:sp>
        <p:nvSpPr>
          <p:cNvPr id="38" name="Content Placeholder 9">
            <a:extLst>
              <a:ext uri="{FF2B5EF4-FFF2-40B4-BE49-F238E27FC236}">
                <a16:creationId xmlns:a16="http://schemas.microsoft.com/office/drawing/2014/main" id="{1EAFBB48-2B16-EDFA-0EE8-3A0FBE1B1E83}"/>
              </a:ext>
            </a:extLst>
          </p:cNvPr>
          <p:cNvSpPr>
            <a:spLocks noGrp="1"/>
          </p:cNvSpPr>
          <p:nvPr>
            <p:ph idx="1"/>
          </p:nvPr>
        </p:nvSpPr>
        <p:spPr>
          <a:xfrm>
            <a:off x="6381135" y="2121408"/>
            <a:ext cx="5161934" cy="4092579"/>
          </a:xfrm>
        </p:spPr>
        <p:txBody>
          <a:bodyPr>
            <a:normAutofit/>
          </a:bodyPr>
          <a:lstStyle/>
          <a:p>
            <a:r>
              <a:rPr lang="en-GB" sz="1800" kern="100" dirty="0">
                <a:effectLst/>
                <a:latin typeface="Rockwell Condensed" panose="02060603050405020104" pitchFamily="18" charset="0"/>
                <a:ea typeface="Calibri" panose="020F0502020204030204" pitchFamily="34" charset="0"/>
                <a:cs typeface="Arial" panose="020B0604020202020204" pitchFamily="34" charset="0"/>
              </a:rPr>
              <a:t>Even though the proposed model has lower accuracy compared to prior studies, this is a novel approach in the domain to apply CNN-LSTM layers to </a:t>
            </a:r>
            <a:r>
              <a:rPr lang="en-GB" sz="1800" kern="100" dirty="0" err="1">
                <a:effectLst/>
                <a:latin typeface="Rockwell Condensed" panose="02060603050405020104" pitchFamily="18" charset="0"/>
                <a:ea typeface="Calibri" panose="020F0502020204030204" pitchFamily="34" charset="0"/>
                <a:cs typeface="Arial" panose="020B0604020202020204" pitchFamily="34" charset="0"/>
              </a:rPr>
              <a:t>rs</a:t>
            </a:r>
            <a:r>
              <a:rPr lang="en-GB" sz="1800" kern="100" dirty="0">
                <a:effectLst/>
                <a:latin typeface="Rockwell Condensed" panose="02060603050405020104" pitchFamily="18" charset="0"/>
                <a:ea typeface="Calibri" panose="020F0502020204030204" pitchFamily="34" charset="0"/>
                <a:cs typeface="Arial" panose="020B0604020202020204" pitchFamily="34" charset="0"/>
              </a:rPr>
              <a:t>-fMRI data, which will inspire others to do procced further work on this architecture in the domain. Additionally, many promising discoveries were obtained from the study.</a:t>
            </a:r>
          </a:p>
          <a:p>
            <a:endParaRPr lang="en-US" sz="1800" dirty="0"/>
          </a:p>
        </p:txBody>
      </p:sp>
    </p:spTree>
    <p:extLst>
      <p:ext uri="{BB962C8B-B14F-4D97-AF65-F5344CB8AC3E}">
        <p14:creationId xmlns:p14="http://schemas.microsoft.com/office/powerpoint/2010/main" val="20871118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301" name="Rectangle 11300">
            <a:extLst>
              <a:ext uri="{FF2B5EF4-FFF2-40B4-BE49-F238E27FC236}">
                <a16:creationId xmlns:a16="http://schemas.microsoft.com/office/drawing/2014/main" id="{89C8D586-1ECD-4981-BED2-97336112C0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999"/>
          </a:xfrm>
          <a:prstGeom prst="rect">
            <a:avLst/>
          </a:prstGeom>
          <a:blipFill dpi="0" rotWithShape="1">
            <a:blip r:embed="rId2">
              <a:alphaModFix amt="60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102CB3-C5B5-4747-7843-548E8F3616B6}"/>
              </a:ext>
            </a:extLst>
          </p:cNvPr>
          <p:cNvSpPr>
            <a:spLocks noGrp="1"/>
          </p:cNvSpPr>
          <p:nvPr>
            <p:ph type="title"/>
          </p:nvPr>
        </p:nvSpPr>
        <p:spPr>
          <a:xfrm>
            <a:off x="6400800" y="484632"/>
            <a:ext cx="5299586" cy="1609344"/>
          </a:xfrm>
          <a:ln>
            <a:noFill/>
          </a:ln>
        </p:spPr>
        <p:txBody>
          <a:bodyPr>
            <a:normAutofit/>
          </a:bodyPr>
          <a:lstStyle/>
          <a:p>
            <a:r>
              <a:rPr lang="en-GB" sz="4000"/>
              <a:t>Key Findings</a:t>
            </a:r>
          </a:p>
        </p:txBody>
      </p:sp>
      <p:pic>
        <p:nvPicPr>
          <p:cNvPr id="11266" name="Picture 2" descr="Understanding Dual Diagnosis: Schizophrenia and Addiction">
            <a:extLst>
              <a:ext uri="{FF2B5EF4-FFF2-40B4-BE49-F238E27FC236}">
                <a16:creationId xmlns:a16="http://schemas.microsoft.com/office/drawing/2014/main" id="{E2270C14-EEF8-1339-B190-1043B1C792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52454" b="1"/>
          <a:stretch/>
        </p:blipFill>
        <p:spPr bwMode="auto">
          <a:xfrm>
            <a:off x="1" y="10"/>
            <a:ext cx="6066502" cy="6857989"/>
          </a:xfrm>
          <a:prstGeom prst="rect">
            <a:avLst/>
          </a:prstGeom>
          <a:noFill/>
          <a:extLst>
            <a:ext uri="{909E8E84-426E-40DD-AFC4-6F175D3DCCD1}">
              <a14:hiddenFill xmlns:a14="http://schemas.microsoft.com/office/drawing/2010/main">
                <a:solidFill>
                  <a:srgbClr val="FFFFFF"/>
                </a:solidFill>
              </a14:hiddenFill>
            </a:ext>
          </a:extLst>
        </p:spPr>
      </p:pic>
      <p:sp>
        <p:nvSpPr>
          <p:cNvPr id="11296" name="Content Placeholder 11269">
            <a:extLst>
              <a:ext uri="{FF2B5EF4-FFF2-40B4-BE49-F238E27FC236}">
                <a16:creationId xmlns:a16="http://schemas.microsoft.com/office/drawing/2014/main" id="{DB322EE3-27EE-42D3-EB48-13FD8F2F53AE}"/>
              </a:ext>
            </a:extLst>
          </p:cNvPr>
          <p:cNvSpPr>
            <a:spLocks noGrp="1"/>
          </p:cNvSpPr>
          <p:nvPr>
            <p:ph idx="1"/>
          </p:nvPr>
        </p:nvSpPr>
        <p:spPr>
          <a:xfrm>
            <a:off x="6400799" y="2121408"/>
            <a:ext cx="5299585" cy="4050792"/>
          </a:xfrm>
        </p:spPr>
        <p:txBody>
          <a:bodyPr>
            <a:normAutofit/>
          </a:bodyPr>
          <a:lstStyle/>
          <a:p>
            <a:r>
              <a:rPr lang="en-US" sz="1500"/>
              <a:t>CNN-LSTM Integration: Combines CNN for spatial pattern extraction and LSTM for capturing long-range temporal dependencies in brain connectivity.</a:t>
            </a:r>
          </a:p>
          <a:p>
            <a:r>
              <a:rPr lang="en-US" sz="1500"/>
              <a:t>ROI Extraction: Focuses on biologically meaningful brain regions using the AAL atlas, improving interpretability and reducing complexity.</a:t>
            </a:r>
          </a:p>
          <a:p>
            <a:r>
              <a:rPr lang="en-US" sz="1500"/>
              <a:t>Saliency Maps: Enhances model interpretability by highlighting key brain regions (e.g., prefrontal cortex, hippocampus) aligned with neuroscientific research.</a:t>
            </a:r>
          </a:p>
          <a:p>
            <a:r>
              <a:rPr lang="en-US" sz="1500"/>
              <a:t>Model Performance: Achieved strong accuracy, precision, recall, F1-score, and AUC-ROC through effective validation and regularization techniques.</a:t>
            </a:r>
          </a:p>
          <a:p>
            <a:r>
              <a:rPr lang="en-US" sz="1500"/>
              <a:t>Real-World Relevance: Focus on schizophrenia and functional connectivity mirrors clinical methods, with potential applications in diagnosis and treatment planning.</a:t>
            </a:r>
          </a:p>
        </p:txBody>
      </p:sp>
      <p:grpSp>
        <p:nvGrpSpPr>
          <p:cNvPr id="11303" name="Group 11302">
            <a:extLst>
              <a:ext uri="{FF2B5EF4-FFF2-40B4-BE49-F238E27FC236}">
                <a16:creationId xmlns:a16="http://schemas.microsoft.com/office/drawing/2014/main" id="{AF001A23-2767-4A31-BD30-56112DE9527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1298" name="Oval 11297">
              <a:extLst>
                <a:ext uri="{FF2B5EF4-FFF2-40B4-BE49-F238E27FC236}">
                  <a16:creationId xmlns:a16="http://schemas.microsoft.com/office/drawing/2014/main" id="{C6BD30CE-7C6B-4C5B-8206-2A912062D6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305" name="Oval 11304">
              <a:extLst>
                <a:ext uri="{FF2B5EF4-FFF2-40B4-BE49-F238E27FC236}">
                  <a16:creationId xmlns:a16="http://schemas.microsoft.com/office/drawing/2014/main" id="{7FA45EC6-AD58-4CAF-846D-46D82B614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18734911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6873B-2991-9683-45CF-E6A9B584C1C3}"/>
              </a:ext>
            </a:extLst>
          </p:cNvPr>
          <p:cNvSpPr>
            <a:spLocks noGrp="1"/>
          </p:cNvSpPr>
          <p:nvPr>
            <p:ph type="title"/>
          </p:nvPr>
        </p:nvSpPr>
        <p:spPr>
          <a:xfrm>
            <a:off x="4935793" y="484632"/>
            <a:ext cx="6607277" cy="1609344"/>
          </a:xfrm>
        </p:spPr>
        <p:txBody>
          <a:bodyPr>
            <a:normAutofit/>
          </a:bodyPr>
          <a:lstStyle/>
          <a:p>
            <a:r>
              <a:rPr lang="en-GB"/>
              <a:t>Challenges &amp; Limitations</a:t>
            </a:r>
            <a:endParaRPr lang="en-GB" dirty="0"/>
          </a:p>
        </p:txBody>
      </p:sp>
      <p:pic>
        <p:nvPicPr>
          <p:cNvPr id="9218" name="Picture 2" descr="Opinion | Our Failed Approach to Schizophrenia - The New York Times">
            <a:extLst>
              <a:ext uri="{FF2B5EF4-FFF2-40B4-BE49-F238E27FC236}">
                <a16:creationId xmlns:a16="http://schemas.microsoft.com/office/drawing/2014/main" id="{8F0E0CAF-1E40-791C-7980-AB49A23BAB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401" r="6648" b="-2"/>
          <a:stretch/>
        </p:blipFill>
        <p:spPr bwMode="auto">
          <a:xfrm>
            <a:off x="633999" y="640080"/>
            <a:ext cx="4001315" cy="558810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3A2CF8E8-133C-0E31-56F5-6D1B929FEF12}"/>
              </a:ext>
            </a:extLst>
          </p:cNvPr>
          <p:cNvSpPr>
            <a:spLocks noGrp="1"/>
          </p:cNvSpPr>
          <p:nvPr>
            <p:ph idx="1"/>
          </p:nvPr>
        </p:nvSpPr>
        <p:spPr>
          <a:xfrm>
            <a:off x="4935794" y="2121408"/>
            <a:ext cx="6607276" cy="4050792"/>
          </a:xfrm>
        </p:spPr>
        <p:txBody>
          <a:bodyPr>
            <a:normAutofit/>
          </a:bodyPr>
          <a:lstStyle/>
          <a:p>
            <a:r>
              <a:rPr lang="en-GB" sz="1900" b="1" dirty="0"/>
              <a:t>Small and Imbalanced Dataset</a:t>
            </a:r>
            <a:r>
              <a:rPr lang="en-GB" sz="1900" dirty="0"/>
              <a:t>: More schizophrenia cases than healthy controls may skew predictions.</a:t>
            </a:r>
          </a:p>
          <a:p>
            <a:r>
              <a:rPr lang="en-GB" sz="1900" b="1" dirty="0"/>
              <a:t>Limited Sample Size</a:t>
            </a:r>
            <a:r>
              <a:rPr lang="en-GB" sz="1900" dirty="0"/>
              <a:t>: Reduced ability to capture variability in brain connectivity, affecting generalization.</a:t>
            </a:r>
          </a:p>
          <a:p>
            <a:r>
              <a:rPr lang="en-GB" sz="1900" b="1" dirty="0"/>
              <a:t>Overfitting Issues</a:t>
            </a:r>
            <a:r>
              <a:rPr lang="en-GB" sz="1900" dirty="0"/>
              <a:t>: Despite Dropout and early stopping, the CNN-LSTM architecture required more data to prevent overfitting.</a:t>
            </a:r>
          </a:p>
          <a:p>
            <a:r>
              <a:rPr lang="en-GB" sz="1900" b="1" dirty="0"/>
              <a:t>Interpretability of Saliency Maps</a:t>
            </a:r>
            <a:r>
              <a:rPr lang="en-GB" sz="1900" dirty="0"/>
              <a:t>: While useful, they did not always provide clear insights into the model’s decision-making.</a:t>
            </a:r>
          </a:p>
          <a:p>
            <a:r>
              <a:rPr lang="en-GB" sz="1900" b="1" dirty="0"/>
              <a:t>Clinical Application Challenges</a:t>
            </a:r>
            <a:r>
              <a:rPr lang="en-GB" sz="1900" dirty="0"/>
              <a:t>: The need for clearer AI decision explanations for practical use in diagnostics.</a:t>
            </a:r>
          </a:p>
        </p:txBody>
      </p:sp>
    </p:spTree>
    <p:extLst>
      <p:ext uri="{BB962C8B-B14F-4D97-AF65-F5344CB8AC3E}">
        <p14:creationId xmlns:p14="http://schemas.microsoft.com/office/powerpoint/2010/main" val="3426405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6" descr="Celebrities are turning to MRI scans to help predict future illnesses.  Should the rest of us? | Euronews">
            <a:extLst>
              <a:ext uri="{FF2B5EF4-FFF2-40B4-BE49-F238E27FC236}">
                <a16:creationId xmlns:a16="http://schemas.microsoft.com/office/drawing/2014/main" id="{D036E937-69C8-B154-3011-46F83C84C057}"/>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artisticChalkSketch/>
                    </a14:imgEffect>
                  </a14:imgLayer>
                </a14:imgProps>
              </a:ext>
              <a:ext uri="{28A0092B-C50C-407E-A947-70E740481C1C}">
                <a14:useLocalDpi xmlns:a14="http://schemas.microsoft.com/office/drawing/2010/main" val="0"/>
              </a:ext>
            </a:extLst>
          </a:blip>
          <a:srcRect/>
          <a:stretch/>
        </p:blipFill>
        <p:spPr bwMode="auto">
          <a:xfrm>
            <a:off x="20" y="10"/>
            <a:ext cx="12191980" cy="6857989"/>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22">
            <a:extLst>
              <a:ext uri="{FF2B5EF4-FFF2-40B4-BE49-F238E27FC236}">
                <a16:creationId xmlns:a16="http://schemas.microsoft.com/office/drawing/2014/main" id="{F79FF99C-BAA9-404F-9C96-6DD456B4F7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9C44AFD-C72D-4D9C-84C6-73E615CED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blipFill dpi="0" rotWithShape="1">
            <a:blip r:embed="rId4">
              <a:alphaModFix amt="30000"/>
              <a:duotone>
                <a:prstClr val="black"/>
                <a:schemeClr val="accent1">
                  <a:tint val="45000"/>
                  <a:satMod val="400000"/>
                </a:schemeClr>
              </a:duotone>
              <a:extLst>
                <a:ext uri="{BEBA8EAE-BF5A-486C-A8C5-ECC9F3942E4B}">
                  <a14:imgProps xmlns:a14="http://schemas.microsoft.com/office/drawing/2010/main">
                    <a14:imgLayer r:embed="rId5">
                      <a14:imgEffect>
                        <a14:sharpenSoften amount="61000"/>
                      </a14:imgEffect>
                      <a14:imgEffect>
                        <a14:brightnessContrast bright="-25000" contrast="20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3726B1-DF0C-AC40-9650-2E4B77E0690A}"/>
              </a:ext>
            </a:extLst>
          </p:cNvPr>
          <p:cNvSpPr>
            <a:spLocks noGrp="1"/>
          </p:cNvSpPr>
          <p:nvPr>
            <p:ph type="title"/>
          </p:nvPr>
        </p:nvSpPr>
        <p:spPr>
          <a:xfrm>
            <a:off x="1069848" y="484632"/>
            <a:ext cx="10058400" cy="1609344"/>
          </a:xfrm>
        </p:spPr>
        <p:txBody>
          <a:bodyPr anchor="ctr">
            <a:normAutofit/>
          </a:bodyPr>
          <a:lstStyle/>
          <a:p>
            <a:r>
              <a:rPr lang="en-GB">
                <a:solidFill>
                  <a:schemeClr val="tx1"/>
                </a:solidFill>
              </a:rPr>
              <a:t>Future Work</a:t>
            </a:r>
          </a:p>
        </p:txBody>
      </p:sp>
      <p:sp>
        <p:nvSpPr>
          <p:cNvPr id="25" name="Content Placeholder 7">
            <a:extLst>
              <a:ext uri="{FF2B5EF4-FFF2-40B4-BE49-F238E27FC236}">
                <a16:creationId xmlns:a16="http://schemas.microsoft.com/office/drawing/2014/main" id="{F783CF51-EDEC-8C2C-7749-D4D467168983}"/>
              </a:ext>
            </a:extLst>
          </p:cNvPr>
          <p:cNvSpPr>
            <a:spLocks noGrp="1"/>
          </p:cNvSpPr>
          <p:nvPr>
            <p:ph idx="1"/>
          </p:nvPr>
        </p:nvSpPr>
        <p:spPr>
          <a:xfrm>
            <a:off x="1069848" y="2121408"/>
            <a:ext cx="10058400" cy="4442124"/>
          </a:xfrm>
        </p:spPr>
        <p:txBody>
          <a:bodyPr>
            <a:normAutofit/>
          </a:bodyPr>
          <a:lstStyle/>
          <a:p>
            <a:r>
              <a:rPr lang="en-GB" b="1" dirty="0"/>
              <a:t>Integrate Multi-Modal Data</a:t>
            </a:r>
            <a:r>
              <a:rPr lang="en-GB" dirty="0"/>
              <a:t>: Combine fMRI with structural MRI and EEG for comprehensive brain activity analysis.</a:t>
            </a:r>
          </a:p>
          <a:p>
            <a:r>
              <a:rPr lang="en-GB" b="1" dirty="0"/>
              <a:t>Detailed Neurobiological Studies</a:t>
            </a:r>
            <a:r>
              <a:rPr lang="en-GB" dirty="0"/>
              <a:t>: Use saliency maps to explore the mechanisms of schizophrenia and other disorders.</a:t>
            </a:r>
          </a:p>
          <a:p>
            <a:r>
              <a:rPr lang="en-GB" b="1" dirty="0"/>
              <a:t>Refine Model Architecture</a:t>
            </a:r>
            <a:r>
              <a:rPr lang="en-GB" dirty="0"/>
              <a:t>: Incorporate advanced techniques like attention mechanisms and graph neural networks.</a:t>
            </a:r>
          </a:p>
          <a:p>
            <a:r>
              <a:rPr lang="en-GB" b="1" dirty="0"/>
              <a:t>Scale to Larger Datasets</a:t>
            </a:r>
            <a:r>
              <a:rPr lang="en-GB" dirty="0"/>
              <a:t>: Apply the model to diverse, multi-site datasets to improve generalizability.</a:t>
            </a:r>
          </a:p>
          <a:p>
            <a:endParaRPr lang="en-GB" dirty="0"/>
          </a:p>
          <a:p>
            <a:endParaRPr lang="en-US" dirty="0"/>
          </a:p>
        </p:txBody>
      </p:sp>
      <p:grpSp>
        <p:nvGrpSpPr>
          <p:cNvPr id="26" name="Group 25">
            <a:extLst>
              <a:ext uri="{FF2B5EF4-FFF2-40B4-BE49-F238E27FC236}">
                <a16:creationId xmlns:a16="http://schemas.microsoft.com/office/drawing/2014/main" id="{1D25B14F-36E0-41E8-956F-CABEF1ADD65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6" name="Oval 15">
              <a:extLst>
                <a:ext uri="{FF2B5EF4-FFF2-40B4-BE49-F238E27FC236}">
                  <a16:creationId xmlns:a16="http://schemas.microsoft.com/office/drawing/2014/main" id="{4AFB9EA5-DE4D-4E6B-A302-F55174E4B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6">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7" name="Oval 26">
              <a:extLst>
                <a:ext uri="{FF2B5EF4-FFF2-40B4-BE49-F238E27FC236}">
                  <a16:creationId xmlns:a16="http://schemas.microsoft.com/office/drawing/2014/main" id="{E44092F4-4D9B-4D0A-8832-C29E786F8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3134003167"/>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05" name="Rectangle 7204">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06" name="Rectangle 7205">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7207" name="Rectangle 7206">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7208" name="Rectangle 7207">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79A21B47-8678-13B8-BAB2-349AC4AD4AEE}"/>
              </a:ext>
            </a:extLst>
          </p:cNvPr>
          <p:cNvSpPr>
            <a:spLocks noGrp="1"/>
          </p:cNvSpPr>
          <p:nvPr>
            <p:ph type="title"/>
          </p:nvPr>
        </p:nvSpPr>
        <p:spPr>
          <a:xfrm>
            <a:off x="1069848" y="484632"/>
            <a:ext cx="10058400" cy="1609344"/>
          </a:xfrm>
        </p:spPr>
        <p:txBody>
          <a:bodyPr>
            <a:normAutofit/>
          </a:bodyPr>
          <a:lstStyle/>
          <a:p>
            <a:r>
              <a:rPr lang="en-GB"/>
              <a:t>Conclusion</a:t>
            </a:r>
          </a:p>
        </p:txBody>
      </p:sp>
      <p:pic>
        <p:nvPicPr>
          <p:cNvPr id="7170" name="Picture 2" descr="Two New Subtypes of Schizophrenia Have Been Discovered | Technology Networks">
            <a:extLst>
              <a:ext uri="{FF2B5EF4-FFF2-40B4-BE49-F238E27FC236}">
                <a16:creationId xmlns:a16="http://schemas.microsoft.com/office/drawing/2014/main" id="{61476BE6-8938-C6EA-E073-2E1DE7CE0402}"/>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artisticChalkSketch/>
                    </a14:imgEffect>
                  </a14:imgLayer>
                </a14:imgProps>
              </a:ext>
              <a:ext uri="{28A0092B-C50C-407E-A947-70E740481C1C}">
                <a14:useLocalDpi xmlns:a14="http://schemas.microsoft.com/office/drawing/2010/main" val="0"/>
              </a:ext>
            </a:extLst>
          </a:blip>
          <a:srcRect l="7756" r="18977" b="-7"/>
          <a:stretch/>
        </p:blipFill>
        <p:spPr bwMode="auto">
          <a:xfrm>
            <a:off x="1007196" y="2265037"/>
            <a:ext cx="5088800" cy="3907158"/>
          </a:xfrm>
          <a:prstGeom prst="rect">
            <a:avLst/>
          </a:prstGeom>
          <a:noFill/>
          <a:extLst>
            <a:ext uri="{909E8E84-426E-40DD-AFC4-6F175D3DCCD1}">
              <a14:hiddenFill xmlns:a14="http://schemas.microsoft.com/office/drawing/2010/main">
                <a:solidFill>
                  <a:srgbClr val="FFFFFF"/>
                </a:solidFill>
              </a14:hiddenFill>
            </a:ext>
          </a:extLst>
        </p:spPr>
      </p:pic>
      <p:sp>
        <p:nvSpPr>
          <p:cNvPr id="7174" name="Content Placeholder 7173">
            <a:extLst>
              <a:ext uri="{FF2B5EF4-FFF2-40B4-BE49-F238E27FC236}">
                <a16:creationId xmlns:a16="http://schemas.microsoft.com/office/drawing/2014/main" id="{4B0FFA7F-CC98-94F1-5D1F-C6C99FC586FD}"/>
              </a:ext>
            </a:extLst>
          </p:cNvPr>
          <p:cNvSpPr>
            <a:spLocks noGrp="1"/>
          </p:cNvSpPr>
          <p:nvPr>
            <p:ph idx="1"/>
          </p:nvPr>
        </p:nvSpPr>
        <p:spPr>
          <a:xfrm>
            <a:off x="6496216" y="2320412"/>
            <a:ext cx="4632031" cy="3851787"/>
          </a:xfrm>
        </p:spPr>
        <p:txBody>
          <a:bodyPr anchor="ctr">
            <a:normAutofit/>
          </a:bodyPr>
          <a:lstStyle/>
          <a:p>
            <a:r>
              <a:rPr lang="en-US"/>
              <a:t>CNN-LSTM model achieved 87.5% accuracy.</a:t>
            </a:r>
          </a:p>
          <a:p>
            <a:r>
              <a:rPr lang="en-US"/>
              <a:t>Saliency maps add interpretability, aiding in identifying key brain regions.</a:t>
            </a:r>
          </a:p>
          <a:p>
            <a:r>
              <a:rPr lang="en-US"/>
              <a:t>Model shows promise for clinical applications in early schizophrenia diagnosis.</a:t>
            </a:r>
            <a:endParaRPr lang="en-US" dirty="0"/>
          </a:p>
        </p:txBody>
      </p:sp>
      <p:sp>
        <p:nvSpPr>
          <p:cNvPr id="7209" name="Oval 7208">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6">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7210" name="Oval 7209">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6037122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4DA90C30-B990-4CCA-B584-40F864DA3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4527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400B8F-52E2-B5B5-EA2E-B8B0BB636BCB}"/>
              </a:ext>
            </a:extLst>
          </p:cNvPr>
          <p:cNvSpPr>
            <a:spLocks noGrp="1"/>
          </p:cNvSpPr>
          <p:nvPr>
            <p:ph type="title"/>
          </p:nvPr>
        </p:nvSpPr>
        <p:spPr>
          <a:xfrm>
            <a:off x="382280" y="484632"/>
            <a:ext cx="6743844" cy="1609344"/>
          </a:xfrm>
        </p:spPr>
        <p:txBody>
          <a:bodyPr>
            <a:normAutofit/>
          </a:bodyPr>
          <a:lstStyle/>
          <a:p>
            <a:r>
              <a:rPr lang="en-GB" sz="4800"/>
              <a:t>Acknowledgments</a:t>
            </a:r>
          </a:p>
        </p:txBody>
      </p:sp>
      <p:pic>
        <p:nvPicPr>
          <p:cNvPr id="7" name="Picture 6" descr="A blue and white logo&#10;&#10;Description automatically generated">
            <a:extLst>
              <a:ext uri="{FF2B5EF4-FFF2-40B4-BE49-F238E27FC236}">
                <a16:creationId xmlns:a16="http://schemas.microsoft.com/office/drawing/2014/main" id="{C70BE6EB-D710-9138-29FC-45E88AE47361}"/>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8203460" y="1604149"/>
            <a:ext cx="3369177" cy="3352332"/>
          </a:xfrm>
          <a:prstGeom prst="rect">
            <a:avLst/>
          </a:prstGeom>
        </p:spPr>
      </p:pic>
      <p:grpSp>
        <p:nvGrpSpPr>
          <p:cNvPr id="24" name="Group 23">
            <a:extLst>
              <a:ext uri="{FF2B5EF4-FFF2-40B4-BE49-F238E27FC236}">
                <a16:creationId xmlns:a16="http://schemas.microsoft.com/office/drawing/2014/main" id="{D060B936-2771-48DC-842C-14EE9318E3E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9" name="Oval 28">
              <a:extLst>
                <a:ext uri="{FF2B5EF4-FFF2-40B4-BE49-F238E27FC236}">
                  <a16:creationId xmlns:a16="http://schemas.microsoft.com/office/drawing/2014/main" id="{DB4EC8B4-4BB2-45C2-A68A-28E36AC10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5" name="Oval 24">
              <a:extLst>
                <a:ext uri="{FF2B5EF4-FFF2-40B4-BE49-F238E27FC236}">
                  <a16:creationId xmlns:a16="http://schemas.microsoft.com/office/drawing/2014/main" id="{1431D296-F8F1-41C3-A211-E83E243C51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graphicFrame>
        <p:nvGraphicFramePr>
          <p:cNvPr id="21" name="Content Placeholder 2">
            <a:extLst>
              <a:ext uri="{FF2B5EF4-FFF2-40B4-BE49-F238E27FC236}">
                <a16:creationId xmlns:a16="http://schemas.microsoft.com/office/drawing/2014/main" id="{47078162-3DF2-3E42-2CEB-16E05646A3DE}"/>
              </a:ext>
            </a:extLst>
          </p:cNvPr>
          <p:cNvGraphicFramePr>
            <a:graphicFrameLocks noGrp="1"/>
          </p:cNvGraphicFramePr>
          <p:nvPr>
            <p:ph idx="1"/>
            <p:extLst>
              <p:ext uri="{D42A27DB-BD31-4B8C-83A1-F6EECF244321}">
                <p14:modId xmlns:p14="http://schemas.microsoft.com/office/powerpoint/2010/main" val="281298085"/>
              </p:ext>
            </p:extLst>
          </p:nvPr>
        </p:nvGraphicFramePr>
        <p:xfrm>
          <a:off x="382279" y="2121408"/>
          <a:ext cx="6743845" cy="4050792"/>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4511705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01" name="Rectangle 6200">
            <a:extLst>
              <a:ext uri="{FF2B5EF4-FFF2-40B4-BE49-F238E27FC236}">
                <a16:creationId xmlns:a16="http://schemas.microsoft.com/office/drawing/2014/main" id="{2550AE69-AC86-4188-83E5-A856C4F1D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6202" name="Rectangle 6201">
            <a:extLst>
              <a:ext uri="{FF2B5EF4-FFF2-40B4-BE49-F238E27FC236}">
                <a16:creationId xmlns:a16="http://schemas.microsoft.com/office/drawing/2014/main" id="{EC4CA156-2C9D-4F0C-B229-88D8B5E17B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6203" name="Rectangle 6202">
            <a:extLst>
              <a:ext uri="{FF2B5EF4-FFF2-40B4-BE49-F238E27FC236}">
                <a16:creationId xmlns:a16="http://schemas.microsoft.com/office/drawing/2014/main" id="{D7361ED3-EBE5-4EFC-8DA3-D0CE4BF2F4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grpSp>
        <p:nvGrpSpPr>
          <p:cNvPr id="6204" name="Group 6203">
            <a:extLst>
              <a:ext uri="{FF2B5EF4-FFF2-40B4-BE49-F238E27FC236}">
                <a16:creationId xmlns:a16="http://schemas.microsoft.com/office/drawing/2014/main" id="{85105087-7F16-4C94-837C-C454451166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6205" name="Oval 6204">
              <a:extLst>
                <a:ext uri="{FF2B5EF4-FFF2-40B4-BE49-F238E27FC236}">
                  <a16:creationId xmlns:a16="http://schemas.microsoft.com/office/drawing/2014/main" id="{4F2F3467-E50F-4A91-B27D-E324936A66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GB"/>
            </a:p>
          </p:txBody>
        </p:sp>
        <p:sp>
          <p:nvSpPr>
            <p:cNvPr id="6206" name="Oval 6205">
              <a:extLst>
                <a:ext uri="{FF2B5EF4-FFF2-40B4-BE49-F238E27FC236}">
                  <a16:creationId xmlns:a16="http://schemas.microsoft.com/office/drawing/2014/main" id="{D678BE03-AC84-4940-A7FD-5B143FE2D6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GB"/>
            </a:p>
          </p:txBody>
        </p:sp>
      </p:grpSp>
      <p:sp>
        <p:nvSpPr>
          <p:cNvPr id="6207" name="Rectangle 6206">
            <a:extLst>
              <a:ext uri="{FF2B5EF4-FFF2-40B4-BE49-F238E27FC236}">
                <a16:creationId xmlns:a16="http://schemas.microsoft.com/office/drawing/2014/main" id="{5C28659E-412C-4600-B45E-BAE370BC2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descr="The Art of Asking Questions">
            <a:extLst>
              <a:ext uri="{FF2B5EF4-FFF2-40B4-BE49-F238E27FC236}">
                <a16:creationId xmlns:a16="http://schemas.microsoft.com/office/drawing/2014/main" id="{D17788AC-419E-12D4-F14E-389FEEFEABA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b="3846"/>
          <a:stretch/>
        </p:blipFill>
        <p:spPr bwMode="auto">
          <a:xfrm>
            <a:off x="20" y="10"/>
            <a:ext cx="12191980" cy="6857989"/>
          </a:xfrm>
          <a:prstGeom prst="rect">
            <a:avLst/>
          </a:prstGeom>
          <a:noFill/>
          <a:extLst>
            <a:ext uri="{909E8E84-426E-40DD-AFC4-6F175D3DCCD1}">
              <a14:hiddenFill xmlns:a14="http://schemas.microsoft.com/office/drawing/2010/main">
                <a:solidFill>
                  <a:srgbClr val="FFFFFF"/>
                </a:solidFill>
              </a14:hiddenFill>
            </a:ext>
          </a:extLst>
        </p:spPr>
      </p:pic>
      <p:sp>
        <p:nvSpPr>
          <p:cNvPr id="6208" name="Rectangle 6207">
            <a:extLst>
              <a:ext uri="{FF2B5EF4-FFF2-40B4-BE49-F238E27FC236}">
                <a16:creationId xmlns:a16="http://schemas.microsoft.com/office/drawing/2014/main" id="{AE95896B-6905-4618-A7DF-DED8A61FB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09" name="Rectangle 6208">
            <a:extLst>
              <a:ext uri="{FF2B5EF4-FFF2-40B4-BE49-F238E27FC236}">
                <a16:creationId xmlns:a16="http://schemas.microsoft.com/office/drawing/2014/main" id="{7748BD8C-4984-4138-94CA-2DC5F39DC3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blipFill dpi="0" rotWithShape="1">
            <a:blip r:embed="rId7">
              <a:alphaModFix amt="30000"/>
              <a:duotone>
                <a:prstClr val="black"/>
                <a:schemeClr val="accent1">
                  <a:tint val="45000"/>
                  <a:satMod val="400000"/>
                </a:schemeClr>
              </a:duotone>
              <a:extLst>
                <a:ext uri="{BEBA8EAE-BF5A-486C-A8C5-ECC9F3942E4B}">
                  <a14:imgProps xmlns:a14="http://schemas.microsoft.com/office/drawing/2010/main">
                    <a14:imgLayer r:embed="rId3">
                      <a14:imgEffect>
                        <a14:sharpenSoften amount="61000"/>
                      </a14:imgEffect>
                      <a14:imgEffect>
                        <a14:brightnessContrast bright="-25000" contrast="20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81534BC-FB39-6588-8DE4-10EF5F0D16AB}"/>
              </a:ext>
            </a:extLst>
          </p:cNvPr>
          <p:cNvSpPr>
            <a:spLocks noGrp="1"/>
          </p:cNvSpPr>
          <p:nvPr>
            <p:ph type="title"/>
          </p:nvPr>
        </p:nvSpPr>
        <p:spPr>
          <a:xfrm>
            <a:off x="1051560" y="1432223"/>
            <a:ext cx="9966960" cy="3035808"/>
          </a:xfrm>
        </p:spPr>
        <p:txBody>
          <a:bodyPr vert="horz" lIns="91440" tIns="45720" rIns="91440" bIns="45720" rtlCol="0" anchor="b">
            <a:normAutofit/>
          </a:bodyPr>
          <a:lstStyle/>
          <a:p>
            <a:pPr>
              <a:lnSpc>
                <a:spcPct val="80000"/>
              </a:lnSpc>
            </a:pPr>
            <a:r>
              <a:rPr lang="en-US" sz="9600">
                <a:solidFill>
                  <a:srgbClr val="FFFFFF"/>
                </a:solidFill>
              </a:rPr>
              <a:t>Questions</a:t>
            </a:r>
          </a:p>
        </p:txBody>
      </p:sp>
    </p:spTree>
    <p:extLst>
      <p:ext uri="{BB962C8B-B14F-4D97-AF65-F5344CB8AC3E}">
        <p14:creationId xmlns:p14="http://schemas.microsoft.com/office/powerpoint/2010/main" val="2733242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Wood Type</Template>
  <TotalTime>0</TotalTime>
  <Words>1148</Words>
  <Application>Microsoft Office PowerPoint</Application>
  <PresentationFormat>Widescreen</PresentationFormat>
  <Paragraphs>83</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Britannic Bold</vt:lpstr>
      <vt:lpstr>Calibri</vt:lpstr>
      <vt:lpstr>Rockwell</vt:lpstr>
      <vt:lpstr>Rockwell Condensed</vt:lpstr>
      <vt:lpstr>Rockwell Extra Bold</vt:lpstr>
      <vt:lpstr>Wingdings</vt:lpstr>
      <vt:lpstr>Wood Type</vt:lpstr>
      <vt:lpstr>Development of a Novel Deep Learning Framework for Differentiating Functional Connectomes in Schizophrenia Using Resting-State Functional MRI</vt:lpstr>
      <vt:lpstr>INTRODUCTION</vt:lpstr>
      <vt:lpstr>Problem Definition &amp; Aims</vt:lpstr>
      <vt:lpstr>Dataset &amp; Methodology</vt:lpstr>
      <vt:lpstr>Model Design</vt:lpstr>
      <vt:lpstr>Model Training</vt:lpstr>
      <vt:lpstr>Model Performance</vt:lpstr>
      <vt:lpstr>Confusion Matrix and  auc-roc curve</vt:lpstr>
      <vt:lpstr>Saliency Maps for Interpretability</vt:lpstr>
      <vt:lpstr>Saliency map as validation</vt:lpstr>
      <vt:lpstr>Model Comparison</vt:lpstr>
      <vt:lpstr>Key Findings</vt:lpstr>
      <vt:lpstr>Challenges &amp; Limitations</vt:lpstr>
      <vt:lpstr>Future Work</vt:lpstr>
      <vt:lpstr>Conclusion</vt:lpstr>
      <vt:lpstr>Acknowledgments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Development of a Novel Deep Learning Framework for Differentiating Functional Connectomes in Schizophrenia Using Resting-State Functional MRI</dc:title>
  <dc:creator>Blessen Koshy Sujan</dc:creator>
  <cp:lastModifiedBy>Blessen Koshy Sujan</cp:lastModifiedBy>
  <cp:revision>1</cp:revision>
  <dcterms:created xsi:type="dcterms:W3CDTF">2024-10-01T20:32:14Z</dcterms:created>
  <dcterms:modified xsi:type="dcterms:W3CDTF">2024-10-02T03:16:55Z</dcterms:modified>
</cp:coreProperties>
</file>